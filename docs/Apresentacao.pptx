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 (todos). Apresentar a equipe e o tema em uma frase: um firewall que só deixa passar pacotes de sensores e atuadores que pertencem à linguagem de uma das cinco 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Augusto (~1 min). Contextualizar: redes industriais trocam texto; um caractere errado pode virar leitura falsa ou comando perigoso. Mostrar à direita exemplos reais dos dados de demonstração.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Augusto (~1 min). Requisito do trabalho: entradas, processamento e saídas. Destacar o tratamento de entradas vazias e inválidas (arquivo inexistente, vazio, binário, pasta) e a organização em módulos.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Augusto (~40 s). Explicar que a ER formal e o código são duas escritas da mesma linguagem; os atalhos do Python (+, ?, {m,n}) são derivados dos operadores básicos. O próprio programa rejeita recursos não regulares.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Augusto (~40 s). Ler a ficha: alfabeto, ER formal com a definição ⟨ID⟩ e o padrão do código. Explicar a tabela de operadores: {2,3} é rr(r | ε) e {4} é a concatenação de 4 cópias.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Augusto (~40 s). No AFNε: a união SEN | ATU abre dois ramos por ε; o desvio ε entre q12 e q13 é a terceira letra opcional. L₁ é finita: 365.040.000 cadeias. Destacar os casos-limite (menor e maior cadeia, 5 dígitos, ε).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Augusto (~40 s). Três ramos na união, um por grandeza. ([1-9] | ε)[0-9] impede zero à esquerda; o escape \. torna o ponto literal (sem ele o ponto seria qualquer caractere).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Augusto (~30 s). Parte 1: o ID do sensor. Parte 2: três movimentos ε abrem os ramos TEMP, UMID e PRES. No ramo TEMP, o desvio ε paralelo ao '-' é o sinal opcional (- | ε).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Augusto (~30 s). Os casos-limite são os extremos de cada faixa: −199.9 e 199.9 C, 0 e 100.0%, 850 e 1099 hPa (aceitos) e 200C, 100.5%, 849 e 1100 hPa (rejeitados).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Caue (~40 s). Cinco ações por união; o espaço é símbolo do alfabeto (⎵), por isso não usamos \s. ⟨PCT⟩ = 100 | ([1-9] | ε)[0-9] cobre 0 a 100 sem zero à esquerda.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Caue (~30 s). A partir de q17, cinco movimentos ε abrem os ramos das ações. No ramo AJUSTAR, a união 100 | ([1-9] | ε)[0-9] aparece como dois ramos, com o desvio ε do dígito opcional.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Caue (~30 s). Casos-limite: 0% e 100% aceitos, 101% rejeitado; espaço extra no final rejeitado (a ER exige a cadeia inteira).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Caue (~40 s). O octeto é dividido em faixas disjuntas (250–255, 200–249, 100–199, 0–99). A construção por faixas é clássica (Regular Expressions Cookbook, citado no relatório); a máscara CIDR e a proibição de zeros à esquerda completam a 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Caue (~30 s). Cada ⟨OCT⟩ abre 4 ramos por ε e os fecha em um estado comum antes do ponto. Na parte 3, o desvio ε de q67 para o final é a máscara opcional (/⟨MASC⟩ | ε).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Caue (~30 s). Casos-limite: 0.0.0.0 e 255.255.255.255, /0 e /32 aceitos; 256 e /33 rejeitados; zeros à esquerda rejeitados no octeto e na máscara.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César (~40 s). Apresentar as definições regulares: ⟨DATA⟩, ⟨HORA⟩, ⟨SEV⟩, ⟨ID⟩ (reuso da ER-01) e ⟨MSG⟩. É a única ER com fecho de Kleene.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César (~40 s). A data aceita o dia certo de cada mês: três casos na união (01–29 em qualquer mês, 30 exceto fevereiro, 31 só nos meses de 31 dias). Validar dia por mês É regular, porque o conjunto de datas é finito. A parte 2 mostra a hora (00–23), os minutos/segundos (00–59) e a severidade.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César (~40 s). Mostrar os dois laços do fecho de Kleene no AFNε. Explicar por que a ER-05 é infinita (há um ciclo que lê símbolos em um caminho até o estado final) e as outras são finitas.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César (~30 s). Casos-limite de data: 29/02, 30/04 e 31/07 aceitos; 30/02, 31/04, mês 13 e hora 24 rejeitados. Mensagem vazia e com acento rejeitadas.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Caue (~1 min 30 s). Esta é a regra central do guia. Explicar que não comparamos só alguns exemplos: o algoritmo percorre todos os pares de estados alcançáveis, então é uma prova de equivalência.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César (~2 min). Rodar ao vivo: lote com o turno da caldeira, um pacote rejeitado com o apontador de coluna, a simulação passo a passo e um Multiple Run no JFLAP. Se o professor pedir uma cadeia nova, usar --pacote ou o modo interativo (opção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Caue (~1 min). Resultado atual: 319 passed. Os casos de teste ficam em um único arquivo usado pelo pytest, pelo JFLAP e pelo relatório, então não há divergência entre eles.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César (~40 s). Separar limitação léxica de limitação semântica: tudo o que a ER promete, ela cumpre; o que depende do significado do dado fica fora.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Todos (~30 s). Cada integrante diz em uma frase o que fez.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Encerramento. Deixar o terminal aberto no modo interativo para testar cadeias pedidas pelo professor.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54480"/>
            <a:ext cx="1069848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0">
                <a:solidFill>
                  <a:srgbClr val="FFFFFF"/>
                </a:solidFill>
                <a:latin typeface="Segoe UI"/>
              </a:rPr>
              <a:t>Auditor Léxico de Telemetria</a:t>
            </a:r>
          </a:p>
          <a:p>
            <a:pPr algn="l">
              <a:spcAft>
                <a:spcPts val="400"/>
              </a:spcAft>
            </a:pPr>
            <a:r>
              <a:rPr sz="4000" b="0">
                <a:solidFill>
                  <a:srgbClr val="FFFFFF"/>
                </a:solidFill>
                <a:latin typeface="Segoe UI"/>
              </a:rPr>
              <a:t>de Sensores Industriais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71800"/>
            <a:ext cx="1069848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D6E2F0"/>
                </a:solidFill>
                <a:latin typeface="Segoe UI"/>
              </a:rPr>
              <a:t>Um firewall léxico construído com Expressões Regulares e AFNε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6984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D6E2F0"/>
                </a:solidFill>
                <a:latin typeface="Segoe UI"/>
              </a:rPr>
              <a:t>Linguagens Formais e Autômatos · Trabalho do 1º Bimestre · CESUPA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663440"/>
            <a:ext cx="106984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Segoe UI"/>
              </a:rPr>
              <a:t>Augusto Rodrigues  ·  Caue Jadão  ·  César Augusto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AFC3DB"/>
                </a:solidFill>
                <a:latin typeface="Segoe UI"/>
              </a:rPr>
              <a:t>github.com/cauebarroso/Auditor-de-sensores-industriais-com-express-es-regulares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144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Segoe UI"/>
              </a:rPr>
              <a:t>O problema e a solução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B6573"/>
                </a:solidFill>
                <a:latin typeface="Segoe UI"/>
              </a:rPr>
              <a:t>2/25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6035040" cy="4389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B1F24"/>
                </a:solidFill>
                <a:latin typeface="Segoe UI"/>
              </a:rPr>
              <a:t>• Sensores e atuadores conversam com o supervisório (SCADA/IIoT) por pacotes de texto.</a:t>
            </a:r>
          </a:p>
          <a:p>
            <a:pPr algn="l">
              <a:spcAft>
                <a:spcPts val="400"/>
              </a:spcAft>
            </a:pPr>
            <a:r>
              <a:rPr sz="1900" b="0">
                <a:solidFill>
                  <a:srgbClr val="1B1F24"/>
                </a:solidFill>
                <a:latin typeface="Segoe UI"/>
              </a:rPr>
              <a:t>• Um único símbolo errado vira uma leitura falsa ou uma ordem perigosa.</a:t>
            </a:r>
          </a:p>
          <a:p>
            <a:pPr algn="l">
              <a:spcAft>
                <a:spcPts val="400"/>
              </a:spcAft>
            </a:pPr>
            <a:r>
              <a:rPr sz="1900" b="0">
                <a:solidFill>
                  <a:srgbClr val="1B1F24"/>
                </a:solidFill>
                <a:latin typeface="Segoe UI"/>
              </a:rPr>
              <a:t>• Solução: um firewall léxico. O pacote só passa se pertencer à linguagem de uma das cinco ERs.</a:t>
            </a:r>
          </a:p>
          <a:p>
            <a:pPr algn="l">
              <a:spcAft>
                <a:spcPts val="400"/>
              </a:spcAft>
            </a:pPr>
            <a:r>
              <a:rPr sz="1900" b="0">
                <a:solidFill>
                  <a:srgbClr val="1B1F24"/>
                </a:solidFill>
                <a:latin typeface="Segoe UI"/>
              </a:rPr>
              <a:t>• Pacotes bloqueados recebem a causa provável e a coluna exata do erro, obtida simulando o AFNε.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1005840"/>
            <a:ext cx="49834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3A5F"/>
                </a:solidFill>
                <a:latin typeface="Segoe UI"/>
              </a:rPr>
              <a:t>Pacotes que chegam à rede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371600"/>
            <a:ext cx="4983480" cy="4023360"/>
          </a:xfrm>
          <a:prstGeom prst="rect">
            <a:avLst/>
          </a:prstGeom>
          <a:solidFill>
            <a:srgbClr val="EEF3F9"/>
          </a:solidFill>
        </p:spPr>
        <p:txBody>
          <a:bodyPr wrap="square" anchor="t" lIns="109728" rIns="109728" tIns="73152" bIns="73152">
            <a:spAutoFit/>
          </a:bodyPr>
          <a:lstStyle/>
          <a:p>
            <a:pPr algn="l"/>
            <a:r>
              <a:rPr sz="1300" b="0">
                <a:solidFill>
                  <a:srgbClr val="1B1F24"/>
                </a:solidFill>
                <a:latin typeface="Consolas"/>
              </a:rPr>
              <a:t>SEN-TMP-0101:TEMP=78.4C        ✔</a:t>
            </a:r>
          </a:p>
          <a:p>
            <a:pPr algn="l"/>
            <a:r>
              <a:rPr sz="1300" b="0">
                <a:solidFill>
                  <a:srgbClr val="1B1F24"/>
                </a:solidFill>
                <a:latin typeface="Consolas"/>
              </a:rPr>
              <a:t>CMD ATU-VLV-0201 AJUSTAR 40%   ✔</a:t>
            </a:r>
          </a:p>
          <a:p>
            <a:pPr algn="l"/>
            <a:r>
              <a:rPr sz="1300" b="0">
                <a:solidFill>
                  <a:srgbClr val="1B1F24"/>
                </a:solidFill>
                <a:latin typeface="Consolas"/>
              </a:rPr>
              <a:t>10.20.0.0/16                   ✔</a:t>
            </a:r>
          </a:p>
          <a:p>
            <a:pPr algn="l"/>
            <a:r>
              <a:rPr sz="1300" b="0">
                <a:solidFill>
                  <a:srgbClr val="1B1F24"/>
                </a:solidFill>
                <a:latin typeface="Consolas"/>
              </a:rPr>
              <a:t>2026-09-30T06:42:10 WARN SEN-TMP-0101: ...</a:t>
            </a:r>
          </a:p>
          <a:p>
            <a:pPr algn="l"/>
          </a:p>
          <a:p>
            <a:pPr algn="l"/>
            <a:r>
              <a:rPr sz="1300" b="0">
                <a:solidFill>
                  <a:srgbClr val="1B1F24"/>
                </a:solidFill>
                <a:latin typeface="Consolas"/>
              </a:rPr>
              <a:t>SEN-TMP-0101:TEMP=1O4.7C       ✘</a:t>
            </a:r>
          </a:p>
          <a:p>
            <a:pPr algn="l"/>
            <a:r>
              <a:rPr sz="1300" b="0">
                <a:solidFill>
                  <a:srgbClr val="1B1F24"/>
                </a:solidFill>
                <a:latin typeface="Consolas"/>
              </a:rPr>
              <a:t>     letra O no lugar do zero</a:t>
            </a:r>
          </a:p>
          <a:p>
            <a:pPr algn="l"/>
            <a:r>
              <a:rPr sz="1300" b="0">
                <a:solidFill>
                  <a:srgbClr val="1B1F24"/>
                </a:solidFill>
                <a:latin typeface="Consolas"/>
              </a:rPr>
              <a:t>CMD ATU-VLV-0201 AJUSTAR 120%  ✘</a:t>
            </a:r>
          </a:p>
          <a:p>
            <a:pPr algn="l"/>
            <a:r>
              <a:rPr sz="1300" b="0">
                <a:solidFill>
                  <a:srgbClr val="1B1F24"/>
                </a:solidFill>
                <a:latin typeface="Consolas"/>
              </a:rPr>
              <a:t>     ajuste acima de 100%</a:t>
            </a:r>
          </a:p>
          <a:p>
            <a:pPr algn="l"/>
            <a:r>
              <a:rPr sz="1300" b="0">
                <a:solidFill>
                  <a:srgbClr val="1B1F24"/>
                </a:solidFill>
                <a:latin typeface="Consolas"/>
              </a:rPr>
              <a:t>2026-09-31T07:10:00 INFO ...   ✘</a:t>
            </a:r>
          </a:p>
          <a:p>
            <a:pPr algn="l"/>
            <a:r>
              <a:rPr sz="1300" b="0">
                <a:solidFill>
                  <a:srgbClr val="1B1F24"/>
                </a:solidFill>
                <a:latin typeface="Consolas"/>
              </a:rPr>
              <a:t>     setembro tem 30 dias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144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Segoe UI"/>
              </a:rPr>
              <a:t>Entradas → processamento → saídas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B6573"/>
                </a:solidFill>
                <a:latin typeface="Segoe UI"/>
              </a:rPr>
              <a:t>3/25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3566160" cy="3017520"/>
          </a:xfrm>
          <a:prstGeom prst="rect">
            <a:avLst/>
          </a:prstGeom>
          <a:solidFill>
            <a:srgbClr val="EEF3F9"/>
          </a:solidFill>
        </p:spPr>
        <p:txBody>
          <a:bodyPr wrap="square" anchor="t" lIns="109728" rIns="109728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3A5F"/>
                </a:solidFill>
                <a:latin typeface="Segoe UI"/>
              </a:rPr>
              <a:t>Entradas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B1F24"/>
                </a:solidFill>
                <a:latin typeface="Segoe UI"/>
              </a:rPr>
              <a:t>• Pacote digitado (modo interativo)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B1F24"/>
                </a:solidFill>
                <a:latin typeface="Segoe UI"/>
              </a:rPr>
              <a:t>• Pacote por argumento (--pacote)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B1F24"/>
                </a:solidFill>
                <a:latin typeface="Segoe UI"/>
              </a:rPr>
              <a:t>• Arquivo .txt em lote, com comentários 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097280"/>
            <a:ext cx="3566160" cy="3017520"/>
          </a:xfrm>
          <a:prstGeom prst="rect">
            <a:avLst/>
          </a:prstGeom>
          <a:solidFill>
            <a:srgbClr val="EEF3F9"/>
          </a:solidFill>
        </p:spPr>
        <p:txBody>
          <a:bodyPr wrap="square" anchor="t" lIns="109728" rIns="109728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3A5F"/>
                </a:solidFill>
                <a:latin typeface="Segoe UI"/>
              </a:rPr>
              <a:t>Processamento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B1F24"/>
                </a:solidFill>
                <a:latin typeface="Segoe UI"/>
              </a:rPr>
              <a:t>• Normaliza (remove espaços das pontas)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B1F24"/>
                </a:solidFill>
                <a:latin typeface="Segoe UI"/>
              </a:rPr>
              <a:t>• re.fullmatch nas 5 ERs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B1F24"/>
                </a:solidFill>
                <a:latin typeface="Segoe UI"/>
              </a:rPr>
              <a:t>• Extrai campos dos válidos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B1F24"/>
                </a:solidFill>
                <a:latin typeface="Segoe UI"/>
              </a:rPr>
              <a:t>• Diagnostica os inválidos pelo AFNε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097280"/>
            <a:ext cx="3611880" cy="3017520"/>
          </a:xfrm>
          <a:prstGeom prst="rect">
            <a:avLst/>
          </a:prstGeom>
          <a:solidFill>
            <a:srgbClr val="EEF3F9"/>
          </a:solidFill>
        </p:spPr>
        <p:txBody>
          <a:bodyPr wrap="square" anchor="t" lIns="109728" rIns="109728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3A5F"/>
                </a:solidFill>
                <a:latin typeface="Segoe UI"/>
              </a:rPr>
              <a:t>Saídas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B1F24"/>
                </a:solidFill>
                <a:latin typeface="Segoe UI"/>
              </a:rPr>
              <a:t>• [OK] / [ERRO] com coluna do erro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B1F24"/>
                </a:solidFill>
                <a:latin typeface="Segoe UI"/>
              </a:rPr>
              <a:t>• Relatório de conformidade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B1F24"/>
                </a:solidFill>
                <a:latin typeface="Segoe UI"/>
              </a:rPr>
              <a:t>• Filtros por categoria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B1F24"/>
                </a:solidFill>
                <a:latin typeface="Segoe UI"/>
              </a:rPr>
              <a:t>• Exportação JSON, CSV ou TXT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389120"/>
          <a:ext cx="1129284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7269480"/>
              </a:tblGrid>
              <a:tr h="32918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Módulo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Responsabilidade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Consolas"/>
                        </a:rPr>
                        <a:t>expressoes.py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Segoe UI"/>
                        </a:rPr>
                        <a:t>As 5 ERs e as fichas (alfabeto, linguagem, ER formal)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Consolas"/>
                        </a:rPr>
                        <a:t>afn.py · construtor_afn.py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Segoe UI"/>
                        </a:rPr>
                        <a:t>AFNε: fecho-ε, simulação, construção de Thompson, prova de equivalência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Consolas"/>
                        </a:rPr>
                        <a:t>diagnostico.py · relatorio.py · auditor.py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Segoe UI"/>
                        </a:rPr>
                        <a:t>Diagnóstico, relatório/exportação e interface (menu e linha de comando)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144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Segoe UI"/>
              </a:rPr>
              <a:t>Notação formal × sintaxe no código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B6573"/>
                </a:solidFill>
                <a:latin typeface="Segoe UI"/>
              </a:rPr>
              <a:t>4/25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9284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377440"/>
                <a:gridCol w="5989320"/>
              </a:tblGrid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Notação formal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No Python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Significado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24"/>
                          </a:solidFill>
                          <a:latin typeface="Consolas"/>
                        </a:rPr>
                        <a:t>r s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24"/>
                          </a:solidFill>
                          <a:latin typeface="Consolas"/>
                        </a:rPr>
                        <a:t>rs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24"/>
                          </a:solidFill>
                          <a:latin typeface="Segoe UI"/>
                        </a:rPr>
                        <a:t>Concatenação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24"/>
                          </a:solidFill>
                          <a:latin typeface="Consolas"/>
                        </a:rPr>
                        <a:t>r | 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24"/>
                          </a:solidFill>
                          <a:latin typeface="Consolas"/>
                        </a:rPr>
                        <a:t>r|s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24"/>
                          </a:solidFill>
                          <a:latin typeface="Segoe UI"/>
                        </a:rPr>
                        <a:t>União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24"/>
                          </a:solidFill>
                          <a:latin typeface="Consolas"/>
                        </a:rPr>
                        <a:t>r*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24"/>
                          </a:solidFill>
                          <a:latin typeface="Consolas"/>
                        </a:rPr>
                        <a:t>r*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24"/>
                          </a:solidFill>
                          <a:latin typeface="Segoe UI"/>
                        </a:rPr>
                        <a:t>Fecho de Kleene (zero ou mais)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24"/>
                          </a:solidFill>
                          <a:latin typeface="Consolas"/>
                        </a:rPr>
                        <a:t>r r*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24"/>
                          </a:solidFill>
                          <a:latin typeface="Consolas"/>
                        </a:rPr>
                        <a:t>r+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24"/>
                          </a:solidFill>
                          <a:latin typeface="Segoe UI"/>
                        </a:rPr>
                        <a:t>Fecho positivo (uma ou mais)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24"/>
                          </a:solidFill>
                          <a:latin typeface="Consolas"/>
                        </a:rPr>
                        <a:t>(r | ε)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24"/>
                          </a:solidFill>
                          <a:latin typeface="Consolas"/>
                        </a:rPr>
                        <a:t>r?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24"/>
                          </a:solidFill>
                          <a:latin typeface="Segoe UI"/>
                        </a:rPr>
                        <a:t>Opcionalidade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24"/>
                          </a:solidFill>
                          <a:latin typeface="Consolas"/>
                        </a:rPr>
                        <a:t>r r r 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24"/>
                          </a:solidFill>
                          <a:latin typeface="Consolas"/>
                        </a:rPr>
                        <a:t>r{4}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24"/>
                          </a:solidFill>
                          <a:latin typeface="Segoe UI"/>
                        </a:rPr>
                        <a:t>Repetição exata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24"/>
                          </a:solidFill>
                          <a:latin typeface="Consolas"/>
                        </a:rPr>
                        <a:t>r r (r | ε)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24"/>
                          </a:solidFill>
                          <a:latin typeface="Consolas"/>
                        </a:rPr>
                        <a:t>r{2,3}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24"/>
                          </a:solidFill>
                          <a:latin typeface="Segoe UI"/>
                        </a:rPr>
                        <a:t>Repetição limitada = rr | rrr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24"/>
                          </a:solidFill>
                          <a:latin typeface="Consolas"/>
                        </a:rPr>
                        <a:t>[0-9]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24"/>
                          </a:solidFill>
                          <a:latin typeface="Consolas"/>
                        </a:rPr>
                        <a:t>[0-9]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24"/>
                          </a:solidFill>
                          <a:latin typeface="Segoe UI"/>
                        </a:rPr>
                        <a:t>Classe finita: (0 | 1 | … | 9)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24"/>
                          </a:solidFill>
                          <a:latin typeface="Consolas"/>
                        </a:rPr>
                        <a:t>⎵   e   .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24"/>
                          </a:solidFill>
                          <a:latin typeface="Consolas"/>
                        </a:rPr>
                        <a:t>' '   e   \.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24"/>
                          </a:solidFill>
                          <a:latin typeface="Segoe UI"/>
                        </a:rPr>
                        <a:t>Espaço e ponto literais (o ponto do Python precisa de escape)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24"/>
                          </a:solidFill>
                          <a:latin typeface="Consolas"/>
                        </a:rPr>
                        <a:t>⟨NOME⟩ = 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24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24"/>
                          </a:solidFill>
                          <a:latin typeface="Segoe UI"/>
                        </a:rPr>
                        <a:t>Definição regular: só um nome para a subexpressão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928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573"/>
                </a:solidFill>
                <a:latin typeface="Segoe UI"/>
              </a:rPr>
              <a:t>Sempre re.fullmatch (dispensa ^ e $). Proibidos e rejeitados pelo nosso analisador: \d \w \s, ponto curinga, classes negadas, retroreferências e lookarounds.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144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Segoe UI"/>
              </a:rPr>
              <a:t>ER-01 — ID do Dispositivo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B6573"/>
                </a:solidFill>
                <a:latin typeface="Segoe UI"/>
              </a:rPr>
              <a:t>5/25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573"/>
                </a:solidFill>
                <a:latin typeface="Segoe UI"/>
              </a:rPr>
              <a:t>Identificador de um sensor (SEN) ou atuador (ATU); bloco reutilizado nas ERs 02, 03 e 05.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112471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3A5F"/>
                </a:solidFill>
                <a:latin typeface="Segoe UI"/>
              </a:rPr>
              <a:t>Σ₁ = {A, …, Z} ∪ {0, …, 9} ∪ {-}   (37 símbolos)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274320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3A5F"/>
                </a:solidFill>
                <a:latin typeface="Segoe UI"/>
              </a:rPr>
              <a:t>ER formal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11247120" cy="640080"/>
          </a:xfrm>
          <a:prstGeom prst="rect">
            <a:avLst/>
          </a:prstGeom>
          <a:solidFill>
            <a:srgbClr val="EEF3F9"/>
          </a:solidFill>
        </p:spPr>
        <p:txBody>
          <a:bodyPr wrap="square" anchor="t" lIns="109728" rIns="109728" tIns="73152" bIns="73152">
            <a:spAutoFit/>
          </a:bodyPr>
          <a:lstStyle/>
          <a:p>
            <a:pPr algn="l"/>
            <a:r>
              <a:rPr sz="1400" b="0">
                <a:solidFill>
                  <a:srgbClr val="1B1F24"/>
                </a:solidFill>
                <a:latin typeface="Consolas"/>
              </a:rPr>
              <a:t>⟨ID⟩ = (SEN | ATU) - [A-Z][A-Z]([A-Z] | ε) - [0-9][0-9][0-9][0-9]</a:t>
            </a:r>
          </a:p>
          <a:p>
            <a:pPr algn="l"/>
            <a:r>
              <a:rPr sz="1400" b="0">
                <a:solidFill>
                  <a:srgbClr val="1B1F24"/>
                </a:solidFill>
                <a:latin typeface="Consolas"/>
              </a:rPr>
              <a:t>ER01 = ⟨ID⟩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274320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3A5F"/>
                </a:solidFill>
                <a:latin typeface="Segoe UI"/>
              </a:rPr>
              <a:t>No código (re.fullmatch)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11247120" cy="411480"/>
          </a:xfrm>
          <a:prstGeom prst="rect">
            <a:avLst/>
          </a:prstGeom>
          <a:solidFill>
            <a:srgbClr val="EEF3F9"/>
          </a:solidFill>
        </p:spPr>
        <p:txBody>
          <a:bodyPr wrap="square" anchor="t" lIns="109728" rIns="109728" tIns="73152" bIns="73152">
            <a:spAutoFit/>
          </a:bodyPr>
          <a:lstStyle/>
          <a:p>
            <a:pPr algn="l"/>
            <a:r>
              <a:rPr sz="1400" b="0">
                <a:solidFill>
                  <a:srgbClr val="1B1F24"/>
                </a:solidFill>
                <a:latin typeface="Consolas"/>
              </a:rPr>
              <a:t>r"(SEN|ATU)-[A-Z]{2,3}-[0-9]{4}"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3474720"/>
          <a:ext cx="112928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3400"/>
                <a:gridCol w="4069080"/>
                <a:gridCol w="2880360"/>
              </a:tblGrid>
              <a:tr h="2743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No código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Na ER formal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Operador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Consolas"/>
                        </a:rPr>
                        <a:t>(SEN|ATU)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Consolas"/>
                        </a:rPr>
                        <a:t>(SEN | ATU)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Segoe UI"/>
                        </a:rPr>
                        <a:t>União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Consolas"/>
                        </a:rPr>
                        <a:t>[A-Z]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Consolas"/>
                        </a:rPr>
                        <a:t>(A | B | … | Z)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Segoe UI"/>
                        </a:rPr>
                        <a:t>Classe finita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Consolas"/>
                        </a:rPr>
                        <a:t>[A-Z]{2,3}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Consolas"/>
                        </a:rPr>
                        <a:t>[A-Z][A-Z]([A-Z] | ε)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Segoe UI"/>
                        </a:rPr>
                        <a:t>Repetição limitada: rr | rrr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Consolas"/>
                        </a:rPr>
                        <a:t>[0-9]{4}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Consolas"/>
                        </a:rPr>
                        <a:t>[0-9][0-9][0-9][0-9]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Segoe UI"/>
                        </a:rPr>
                        <a:t>Repetição exata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9418320" y="320040"/>
            <a:ext cx="2377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AFNε: 19 estados · 5 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144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Segoe UI"/>
              </a:rPr>
              <a:t>ER-01 — AFNε e testes (8 aceitas, 8 rejeitadas)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B6573"/>
                </a:solidFill>
                <a:latin typeface="Segoe UI"/>
              </a:rPr>
              <a:t>6/25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573"/>
                </a:solidFill>
                <a:latin typeface="Segoe UI"/>
              </a:rPr>
              <a:t>L = Cadeias formadas pela classe do dispositivo (SEN ou ATU), um hífen, o código do modelo com 2 ou 3 letras maiúsculas, um hífen e o número de série com exatamente 4 dígitos. L₁ é FINITA: |L₁| = 2 × (26² + 26³) × 10⁴ = 365.040.000 cadeias.</a:t>
            </a:r>
          </a:p>
        </p:txBody>
      </p:sp>
      <p:pic>
        <p:nvPicPr>
          <p:cNvPr id="6" name="Picture 5" descr="ER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53201"/>
            <a:ext cx="11247120" cy="1494197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246120"/>
          <a:ext cx="112928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3566160"/>
                <a:gridCol w="1234440"/>
                <a:gridCol w="6126480"/>
              </a:tblGrid>
              <a:tr h="1828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marL="73152" marR="73152" marT="9144" marB="914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Cadeia</a:t>
                      </a:r>
                    </a:p>
                  </a:txBody>
                  <a:tcPr marL="73152" marR="73152" marT="9144" marB="914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Esperado</a:t>
                      </a:r>
                    </a:p>
                  </a:txBody>
                  <a:tcPr marL="73152" marR="73152" marT="9144" marB="914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Justificativa</a:t>
                      </a:r>
                    </a:p>
                  </a:txBody>
                  <a:tcPr marL="73152" marR="73152" marT="9144" marB="9144" anchor="ctr">
                    <a:solidFill>
                      <a:srgbClr val="1F3A5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Consolas"/>
                        </a:rPr>
                        <a:t>SEN-TM-0001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Segoe UI"/>
                        </a:rPr>
                        <a:t>✔ aceita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Segoe UI"/>
                        </a:rPr>
                        <a:t>Sensor com modelo de 2 letras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Consolas"/>
                        </a:rPr>
                        <a:t>ATU-VLV-0420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Segoe UI"/>
                        </a:rPr>
                        <a:t>✔ aceita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Segoe UI"/>
                        </a:rPr>
                        <a:t>Atuador com modelo de 3 letras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Consolas"/>
                        </a:rPr>
                        <a:t>SEN-ABC-1234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Segoe UI"/>
                        </a:rPr>
                        <a:t>✔ aceita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Segoe UI"/>
                        </a:rPr>
                        <a:t>Sensor com modelo de 3 letras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Consolas"/>
                        </a:rPr>
                        <a:t>ATU-XY-9999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Segoe UI"/>
                        </a:rPr>
                        <a:t>✔ aceita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Segoe UI"/>
                        </a:rPr>
                        <a:t>Maior número de série (9999) (caso-limite)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Consolas"/>
                        </a:rPr>
                        <a:t>SEN-XX-0000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Segoe UI"/>
                        </a:rPr>
                        <a:t>✔ aceita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Segoe UI"/>
                        </a:rPr>
                        <a:t>Menor número de série (0000) (caso-limite)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Consolas"/>
                        </a:rPr>
                        <a:t>SEN-PH-0750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Segoe UI"/>
                        </a:rPr>
                        <a:t>✔ aceita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Segoe UI"/>
                        </a:rPr>
                        <a:t>Sensor de pH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Consolas"/>
                        </a:rPr>
                        <a:t>SEN-AA-0000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Segoe UI"/>
                        </a:rPr>
                        <a:t>✔ aceita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Segoe UI"/>
                        </a:rPr>
                        <a:t>Menor cadeia de L₁ (11 símbolos) (caso-limite)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Consolas"/>
                        </a:rPr>
                        <a:t>ATU-ZZZ-9999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Segoe UI"/>
                        </a:rPr>
                        <a:t>✔ aceita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Segoe UI"/>
                        </a:rPr>
                        <a:t>Maior cadeia de L₁ (12 símbolos) (caso-limite)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Consolas"/>
                        </a:rPr>
                        <a:t>ε (cadeia vazia)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Segoe UI"/>
                        </a:rPr>
                        <a:t>✘ rejeitada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Segoe UI"/>
                        </a:rPr>
                        <a:t>Cadeia vazia ε não pertence a L₁ (caso-limite)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Consolas"/>
                        </a:rPr>
                        <a:t>sen-tm-0001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Segoe UI"/>
                        </a:rPr>
                        <a:t>✘ rejeitada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Segoe UI"/>
                        </a:rPr>
                        <a:t>Minúsculas não pertencem a Σ₁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Consolas"/>
                        </a:rPr>
                        <a:t>SEN-TM-00012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Segoe UI"/>
                        </a:rPr>
                        <a:t>✘ rejeitada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Segoe UI"/>
                        </a:rPr>
                        <a:t>5 dígitos: {4} exige exatamente 4 (caso-limite)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Consolas"/>
                        </a:rPr>
                        <a:t>SEN-TM-123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Segoe UI"/>
                        </a:rPr>
                        <a:t>✘ rejeitada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Segoe UI"/>
                        </a:rPr>
                        <a:t>Apenas 3 dígitos no número de série (caso-limite)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Consolas"/>
                        </a:rPr>
                        <a:t>ATU-A-1234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Segoe UI"/>
                        </a:rPr>
                        <a:t>✘ rejeitada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Segoe UI"/>
                        </a:rPr>
                        <a:t>Modelo com 1 letra (mínimo 2) (caso-limite)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Consolas"/>
                        </a:rPr>
                        <a:t>SEN-ABCD-1234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Segoe UI"/>
                        </a:rPr>
                        <a:t>✘ rejeitada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Segoe UI"/>
                        </a:rPr>
                        <a:t>Modelo com 4 letras (máximo 3) (caso-limite)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Consolas"/>
                        </a:rPr>
                        <a:t>SENO-TM-0001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Segoe UI"/>
                        </a:rPr>
                        <a:t>✘ rejeitada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Segoe UI"/>
                        </a:rPr>
                        <a:t>Prefixo SENO não pertence a (SEN | ATU)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Consolas"/>
                        </a:rPr>
                        <a:t>SEN_TM_0001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Segoe UI"/>
                        </a:rPr>
                        <a:t>✘ rejeitada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4"/>
                          </a:solidFill>
                          <a:latin typeface="Segoe UI"/>
                        </a:rPr>
                        <a:t>Separador '_' não pertence a Σ₁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144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Segoe UI"/>
              </a:rPr>
              <a:t>ER-02 — Telemetria (medição física)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B6573"/>
                </a:solidFill>
                <a:latin typeface="Segoe UI"/>
              </a:rPr>
              <a:t>7/25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573"/>
                </a:solidFill>
                <a:latin typeface="Segoe UI"/>
              </a:rPr>
              <a:t>Leitura de um sensor: temperatura (C), umidade (%) ou pressão (hPa), dentro da faixa.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112471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3A5F"/>
                </a:solidFill>
                <a:latin typeface="Segoe UI"/>
              </a:rPr>
              <a:t>Σ₂ = {A, …, Z} ∪ {0, …, 9} ∪ {-, :, =, ., %, h, a}   (43 símbolos)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274320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3A5F"/>
                </a:solidFill>
                <a:latin typeface="Segoe UI"/>
              </a:rPr>
              <a:t>ER formal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11247120" cy="1600200"/>
          </a:xfrm>
          <a:prstGeom prst="rect">
            <a:avLst/>
          </a:prstGeom>
          <a:solidFill>
            <a:srgbClr val="EEF3F9"/>
          </a:solidFill>
        </p:spPr>
        <p:txBody>
          <a:bodyPr wrap="square" anchor="t" lIns="109728" rIns="109728" tIns="73152" bIns="73152">
            <a:spAutoFit/>
          </a:bodyPr>
          <a:lstStyle/>
          <a:p>
            <a:pPr algn="l"/>
            <a:r>
              <a:rPr sz="1400" b="0">
                <a:solidFill>
                  <a:srgbClr val="1B1F24"/>
                </a:solidFill>
                <a:latin typeface="Consolas"/>
              </a:rPr>
              <a:t>⟨SID⟩ = SEN - [A-Z][A-Z]([A-Z] | ε) - [0-9][0-9][0-9][0-9]</a:t>
            </a:r>
          </a:p>
          <a:p>
            <a:pPr algn="l"/>
            <a:r>
              <a:rPr sz="1400" b="0">
                <a:solidFill>
                  <a:srgbClr val="1B1F24"/>
                </a:solidFill>
                <a:latin typeface="Consolas"/>
              </a:rPr>
              <a:t>⟨DEC⟩ = . [0-9] | ε</a:t>
            </a:r>
          </a:p>
          <a:p>
            <a:pPr algn="l"/>
            <a:r>
              <a:rPr sz="1400" b="0">
                <a:solidFill>
                  <a:srgbClr val="1B1F24"/>
                </a:solidFill>
                <a:latin typeface="Consolas"/>
              </a:rPr>
              <a:t>⟨TEMP⟩ = TEMP= (- | ε) (1[0-9][0-9] | ([1-9] | ε) [0-9]) ⟨DEC⟩ C</a:t>
            </a:r>
          </a:p>
          <a:p>
            <a:pPr algn="l"/>
            <a:r>
              <a:rPr sz="1400" b="0">
                <a:solidFill>
                  <a:srgbClr val="1B1F24"/>
                </a:solidFill>
                <a:latin typeface="Consolas"/>
              </a:rPr>
              <a:t>⟨UMID⟩ = UMID= (100 (.0 | ε) | ([1-9] | ε) [0-9] ⟨DEC⟩) %</a:t>
            </a:r>
          </a:p>
          <a:p>
            <a:pPr algn="l"/>
            <a:r>
              <a:rPr sz="1400" b="0">
                <a:solidFill>
                  <a:srgbClr val="1B1F24"/>
                </a:solidFill>
                <a:latin typeface="Consolas"/>
              </a:rPr>
              <a:t>⟨PRES⟩ = PRES= (8[5-9][0-9] | 9[0-9][0-9] | 10[0-9][0-9]) hPa</a:t>
            </a:r>
          </a:p>
          <a:p>
            <a:pPr algn="l"/>
            <a:r>
              <a:rPr sz="1400" b="0">
                <a:solidFill>
                  <a:srgbClr val="1B1F24"/>
                </a:solidFill>
                <a:latin typeface="Consolas"/>
              </a:rPr>
              <a:t>ER02 = ⟨SID⟩ : (⟨TEMP⟩ | ⟨UMID⟩ | ⟨PRES⟩)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66160"/>
            <a:ext cx="274320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3A5F"/>
                </a:solidFill>
                <a:latin typeface="Segoe UI"/>
              </a:rPr>
              <a:t>No código (re.fullmatch)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86200"/>
            <a:ext cx="11247120" cy="502920"/>
          </a:xfrm>
          <a:prstGeom prst="rect">
            <a:avLst/>
          </a:prstGeom>
          <a:solidFill>
            <a:srgbClr val="EEF3F9"/>
          </a:solidFill>
        </p:spPr>
        <p:txBody>
          <a:bodyPr wrap="square" anchor="t" lIns="109728" rIns="109728" tIns="73152" bIns="73152">
            <a:spAutoFit/>
          </a:bodyPr>
          <a:lstStyle/>
          <a:p>
            <a:pPr algn="l"/>
            <a:r>
              <a:rPr sz="1200" b="0">
                <a:solidFill>
                  <a:srgbClr val="1B1F24"/>
                </a:solidFill>
                <a:latin typeface="Consolas"/>
              </a:rPr>
              <a:t>r"SEN-[A-Z]{2,3}-[0-9]{4}:(TEMP=-?(1[0-9][0-9]|[1-9]?[0-9])(\.[0-9])?C|UMID=(100(\.0)?|[1-9]?[0-9](\.[0-9])?)%|PRES=(8[5-9][0-9]|9[0-9][0-9]|10[0-9][0-9])hPa)"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4526280"/>
          <a:ext cx="112928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3400"/>
                <a:gridCol w="4069080"/>
                <a:gridCol w="2880360"/>
              </a:tblGrid>
              <a:tr h="2743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No código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Na ER formal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Operador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Consolas"/>
                        </a:rPr>
                        <a:t>-?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Consolas"/>
                        </a:rPr>
                        <a:t>(- | ε)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Segoe UI"/>
                        </a:rPr>
                        <a:t>Opcionalidade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Consolas"/>
                        </a:rPr>
                        <a:t>[1-9]?[0-9]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Consolas"/>
                        </a:rPr>
                        <a:t>([1-9] | ε)[0-9]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Segoe UI"/>
                        </a:rPr>
                        <a:t>0 a 99 sem zero à esquerda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Consolas"/>
                        </a:rPr>
                        <a:t>(\.[0-9])?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Consolas"/>
                        </a:rPr>
                        <a:t>.[0-9] | ε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Segoe UI"/>
                        </a:rPr>
                        <a:t>Escape do ponto + opcional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Consolas"/>
                        </a:rPr>
                        <a:t>(TEMP=…|UMID=…|PRES=…)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Consolas"/>
                        </a:rPr>
                        <a:t>⟨TEMP⟩ | ⟨UMID⟩ | ⟨PRES⟩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Segoe UI"/>
                        </a:rPr>
                        <a:t>União de três ramos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9418320" y="320040"/>
            <a:ext cx="2377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AFNε: 75 estados · 27 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144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Segoe UI"/>
              </a:rPr>
              <a:t>ER-02 — AFNε: o ID do sensor e a união das três medições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B6573"/>
                </a:solidFill>
                <a:latin typeface="Segoe UI"/>
              </a:rPr>
              <a:t>8/25</a:t>
            </a:r>
          </a:p>
        </p:txBody>
      </p:sp>
      <p:pic>
        <p:nvPicPr>
          <p:cNvPr id="5" name="Picture 4" descr="ER-02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7990"/>
            <a:ext cx="11247120" cy="1172978"/>
          </a:xfrm>
          <a:prstGeom prst="rect">
            <a:avLst/>
          </a:prstGeom>
        </p:spPr>
      </p:pic>
      <p:pic>
        <p:nvPicPr>
          <p:cNvPr id="6" name="Picture 5" descr="ER-02_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10894"/>
            <a:ext cx="11247120" cy="3727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144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Segoe UI"/>
              </a:rPr>
              <a:t>ER-02 — linguagem e testes (8 aceitas, 8 rejeitadas)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B6573"/>
                </a:solidFill>
                <a:latin typeface="Segoe UI"/>
              </a:rPr>
              <a:t>9/25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573"/>
                </a:solidFill>
                <a:latin typeface="Segoe UI"/>
              </a:rPr>
              <a:t>L = ID de um SENSOR (SEN), ':' e exatamente uma medição: TEMP= com sinal '-' opcional, inteiro de 0 a 199 sem zeros à esquerda, uma casa decimal opcional e a unidade C; UMID= com valor de 0 a 100 (uma casa decimal opcional; 100 só como 100 ou 100.0) e a unidade %; ou PRES= com inteiro de 850 a 1099 e a unidade hPa. L₂ é finita.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83080"/>
          <a:ext cx="11292840" cy="4507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5486400"/>
                <a:gridCol w="1325880"/>
                <a:gridCol w="4114800"/>
              </a:tblGrid>
              <a:tr h="26517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marL="73152" marR="73152" marT="9144" marB="914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Cadeia</a:t>
                      </a:r>
                    </a:p>
                  </a:txBody>
                  <a:tcPr marL="73152" marR="73152" marT="9144" marB="914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Esperado</a:t>
                      </a:r>
                    </a:p>
                  </a:txBody>
                  <a:tcPr marL="73152" marR="73152" marT="9144" marB="914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Justificativa</a:t>
                      </a:r>
                    </a:p>
                  </a:txBody>
                  <a:tcPr marL="73152" marR="73152" marT="9144" marB="9144" anchor="ctr">
                    <a:solidFill>
                      <a:srgbClr val="1F3A5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SEN-TM-0001:TEMP=25.5C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✔ aceita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Temperatura típica com uma casa decimal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SEN-TM-0001:TEMP=-10C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✔ aceita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Temperatura negativa sem casa decimal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SEN-TMP-0002:TEMP=-199.9C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✔ aceita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Menor temperatura da faixa (caso-limite)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SEN-TM-0002:TEMP=199.9C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✔ aceita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Maior temperatura da faixa (caso-limite)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SEN-AB-1234:UMID=100.0%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✔ aceita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Umidade máxima (100.0) (caso-limite)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SEN-AB-1234:UMID=0%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✔ aceita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Umidade mínima (0) (caso-limite)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SEN-YY-0000:PRES=850hPa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✔ aceita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Menor pressão da faixa (caso-limite)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SEN-XX-9999:PRES=1099hPa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✔ aceita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Maior pressão da faixa (caso-limite)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SEN-TM-0001:TEMP=200C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✘ rejeitada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200 &gt; 199: fora da faixa (caso-limite)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SEN-TM-0001:UMID=100.5%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✘ rejeitada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100.5% &gt; 100%: fora da faixa (caso-limite)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SEN-TM-0001:PRES=849hPa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✘ rejeitada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849 &lt; 850: fora da faixa (caso-limite)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SEN-TM-0001:PRES=1100hPa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✘ rejeitada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1100 &gt; 1099: fora da faixa (caso-limite)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SEN-TM-0001:TEMP=25.55C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✘ rejeitada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Duas casas decimais (máximo uma)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SEN-TM-0001:TEMP=025C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✘ rejeitada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Zero à esquerda não é permitido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ATU-TM-0001:TEMP=25C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✘ rejeitada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Atuador (ATU) não emite telemetria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SEN-TM-0001:TEMP=25F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✘ rejeitada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Unidade F não pertence à linguagem (só C)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144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Segoe UI"/>
              </a:rPr>
              <a:t>ER-03 — Comando de Controle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B6573"/>
                </a:solidFill>
                <a:latin typeface="Segoe UI"/>
              </a:rPr>
              <a:t>10/25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573"/>
                </a:solidFill>
                <a:latin typeface="Segoe UI"/>
              </a:rPr>
              <a:t>Ordem para um atuador: ligar, desligar, abrir, fechar ou ajustar de 0 a 100%.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112471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3A5F"/>
                </a:solidFill>
                <a:latin typeface="Segoe UI"/>
              </a:rPr>
              <a:t>Σ₃ = {A, …, Z} ∪ {0, …, 9} ∪ {-, ⎵, %}   (39 símbolos)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274320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3A5F"/>
                </a:solidFill>
                <a:latin typeface="Segoe UI"/>
              </a:rPr>
              <a:t>ER formal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11247120" cy="868680"/>
          </a:xfrm>
          <a:prstGeom prst="rect">
            <a:avLst/>
          </a:prstGeom>
          <a:solidFill>
            <a:srgbClr val="EEF3F9"/>
          </a:solidFill>
        </p:spPr>
        <p:txBody>
          <a:bodyPr wrap="square" anchor="t" lIns="109728" rIns="109728" tIns="73152" bIns="73152">
            <a:spAutoFit/>
          </a:bodyPr>
          <a:lstStyle/>
          <a:p>
            <a:pPr algn="l"/>
            <a:r>
              <a:rPr sz="1400" b="0">
                <a:solidFill>
                  <a:srgbClr val="1B1F24"/>
                </a:solidFill>
                <a:latin typeface="Consolas"/>
              </a:rPr>
              <a:t>⟨AID⟩ = ATU - [A-Z][A-Z]([A-Z] | ε) - [0-9][0-9][0-9][0-9]</a:t>
            </a:r>
          </a:p>
          <a:p>
            <a:pPr algn="l"/>
            <a:r>
              <a:rPr sz="1400" b="0">
                <a:solidFill>
                  <a:srgbClr val="1B1F24"/>
                </a:solidFill>
                <a:latin typeface="Consolas"/>
              </a:rPr>
              <a:t>⟨PCT⟩ = 100 | ([1-9] | ε) [0-9]</a:t>
            </a:r>
          </a:p>
          <a:p>
            <a:pPr algn="l"/>
            <a:r>
              <a:rPr sz="1400" b="0">
                <a:solidFill>
                  <a:srgbClr val="1B1F24"/>
                </a:solidFill>
                <a:latin typeface="Consolas"/>
              </a:rPr>
              <a:t>ER03 = CMD ⎵ ⟨AID⟩ ⎵ (LIGAR | DESLIGAR | ABRIR | FECHAR | AJUSTAR ⎵ ⟨PCT⟩ 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274320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3A5F"/>
                </a:solidFill>
                <a:latin typeface="Segoe UI"/>
              </a:rPr>
              <a:t>No código (re.fullmatch)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54680"/>
            <a:ext cx="11247120" cy="411480"/>
          </a:xfrm>
          <a:prstGeom prst="rect">
            <a:avLst/>
          </a:prstGeom>
          <a:solidFill>
            <a:srgbClr val="EEF3F9"/>
          </a:solidFill>
        </p:spPr>
        <p:txBody>
          <a:bodyPr wrap="square" anchor="t" lIns="109728" rIns="109728" tIns="73152" bIns="73152">
            <a:spAutoFit/>
          </a:bodyPr>
          <a:lstStyle/>
          <a:p>
            <a:pPr algn="l"/>
            <a:r>
              <a:rPr sz="1400" b="0">
                <a:solidFill>
                  <a:srgbClr val="1B1F24"/>
                </a:solidFill>
                <a:latin typeface="Consolas"/>
              </a:rPr>
              <a:t>r"CMD ATU-[A-Z]{2,3}-[0-9]{4} (LIGAR|DESLIGAR|ABRIR|FECHAR|AJUSTAR (100|[1-9]?[0-9])%)"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3703320"/>
          <a:ext cx="112928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3400"/>
                <a:gridCol w="4069080"/>
                <a:gridCol w="2880360"/>
              </a:tblGrid>
              <a:tr h="2743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No código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Na ER formal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Operador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Consolas"/>
                        </a:rPr>
                        <a:t> (espaço)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Consolas"/>
                        </a:rPr>
                        <a:t>⎵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Segoe UI"/>
                        </a:rPr>
                        <a:t>Símbolo de Σ₃ (não usamos \s)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Consolas"/>
                        </a:rPr>
                        <a:t>(LIGAR|…|AJUSTAR …)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Consolas"/>
                        </a:rPr>
                        <a:t>LIGAR | … | AJUSTAR ⎵ ⟨PCT⟩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Segoe UI"/>
                        </a:rPr>
                        <a:t>União de cinco ações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Consolas"/>
                        </a:rPr>
                        <a:t>(100|[1-9]?[0-9])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Consolas"/>
                        </a:rPr>
                        <a:t>100 | ([1-9] | ε)[0-9]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Segoe UI"/>
                        </a:rPr>
                        <a:t>União: 0 a 100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Consolas"/>
                        </a:rPr>
                        <a:t>{2,3}  {4}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Consolas"/>
                        </a:rPr>
                        <a:t>rr(r | ε)  rrrr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Segoe UI"/>
                        </a:rPr>
                        <a:t>Repetições do 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9418320" y="320040"/>
            <a:ext cx="2377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AFNε: 65 estados · 16 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144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Segoe UI"/>
              </a:rPr>
              <a:t>ER-03 — AFNε: o ID do atuador e as cinco 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B6573"/>
                </a:solidFill>
                <a:latin typeface="Segoe UI"/>
              </a:rPr>
              <a:t>11/25</a:t>
            </a:r>
          </a:p>
        </p:txBody>
      </p:sp>
      <p:pic>
        <p:nvPicPr>
          <p:cNvPr id="5" name="Picture 4" descr="ER-03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22736"/>
            <a:ext cx="11247120" cy="1246366"/>
          </a:xfrm>
          <a:prstGeom prst="rect">
            <a:avLst/>
          </a:prstGeom>
        </p:spPr>
      </p:pic>
      <p:pic>
        <p:nvPicPr>
          <p:cNvPr id="6" name="Picture 5" descr="ER-03_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82636"/>
            <a:ext cx="11247120" cy="225868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144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Segoe UI"/>
              </a:rPr>
              <a:t>ER-03 — linguagem e testes (8 aceitas, 8 rejeitadas)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B6573"/>
                </a:solidFill>
                <a:latin typeface="Segoe UI"/>
              </a:rPr>
              <a:t>12/25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573"/>
                </a:solidFill>
                <a:latin typeface="Segoe UI"/>
              </a:rPr>
              <a:t>L = O prefixo 'CMD', um espaço, o ID de um ATUADOR (ATU), um espaço e exatamente uma ação: LIGAR, DESLIGAR, ABRIR, FECHAR ou 'AJUSTAR ' seguido de um inteiro de 0 a 100 sem zeros à esquerda e do símbolo %. L₃ é finita.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83080"/>
          <a:ext cx="11292840" cy="4507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5486400"/>
                <a:gridCol w="1325880"/>
                <a:gridCol w="4114800"/>
              </a:tblGrid>
              <a:tr h="26517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marL="73152" marR="73152" marT="9144" marB="914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Cadeia</a:t>
                      </a:r>
                    </a:p>
                  </a:txBody>
                  <a:tcPr marL="73152" marR="73152" marT="9144" marB="914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Esperado</a:t>
                      </a:r>
                    </a:p>
                  </a:txBody>
                  <a:tcPr marL="73152" marR="73152" marT="9144" marB="914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Justificativa</a:t>
                      </a:r>
                    </a:p>
                  </a:txBody>
                  <a:tcPr marL="73152" marR="73152" marT="9144" marB="9144" anchor="ctr">
                    <a:solidFill>
                      <a:srgbClr val="1F3A5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CMD ATU-VLV-0420 LIGAR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✔ aceita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Ação LIGAR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CMD ATU-VLV-0420 DESLIGAR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✔ aceita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Ação DESLIGAR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CMD ATU-XX-1234 ABRIR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✔ aceita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Ação ABRIR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CMD ATU-XX-1234 FECHAR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✔ aceita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Ação FECHAR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CMD ATU-YY-9999 AJUSTAR 100%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✔ aceita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Maior ajuste (100%) (caso-limite)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CMD ATU-YY-9999 AJUSTAR 0%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✔ aceita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Menor ajuste (0%) (caso-limite)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CMD ATU-MTR-0007 AJUSTAR 75%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✔ aceita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Ajuste com 2 dígitos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CMD ATU-BB-0001 AJUSTAR 9%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✔ aceita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Ajuste com 1 dígito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CMD ATU-VLV-0420 AJUSTAR 101%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✘ rejeitada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101 &gt; 100: fora da faixa (caso-limite)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CMD SEN-VLV-0420 LIGAR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✘ rejeitada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Sensor (SEN) não recebe comandos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CMD ATU-VLV-0420 PAUSAR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✘ rejeitada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PAUSAR não pertence à união de ações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CMD ATU-VLV-0420 AJUSTAR %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✘ rejeitada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Valor percentual ausente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CMD ATU-VLV-0420 LIGAR⎵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✘ rejeitada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Espaço extra no final (caso-limite)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CMD ATU-VLV-0420 AJUSTAR 050%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✘ rejeitada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Zero à esquerda não é permitido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cmd ATU-VLV-0420 LIGAR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✘ rejeitada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Prefixo em minúsculas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CMD ATU-VLV-0420 AJUSTAR 50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✘ rejeitada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Falta o símbolo %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144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Segoe UI"/>
              </a:rPr>
              <a:t>ER-04 — Rota de Rede IPv4/CIDR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B6573"/>
                </a:solidFill>
                <a:latin typeface="Segoe UI"/>
              </a:rPr>
              <a:t>13/25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573"/>
                </a:solidFill>
                <a:latin typeface="Segoe UI"/>
              </a:rPr>
              <a:t>Endereço IPv4 com octetos de 0 a 255, sem zero à esquerda, e máscara CIDR opcional (/0 a /32).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112471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3A5F"/>
                </a:solidFill>
                <a:latin typeface="Segoe UI"/>
              </a:rPr>
              <a:t>Σ₄ = {0, …, 9} ∪ {., /}   (12 símbolos)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274320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3A5F"/>
                </a:solidFill>
                <a:latin typeface="Segoe UI"/>
              </a:rPr>
              <a:t>ER formal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11247120" cy="868680"/>
          </a:xfrm>
          <a:prstGeom prst="rect">
            <a:avLst/>
          </a:prstGeom>
          <a:solidFill>
            <a:srgbClr val="EEF3F9"/>
          </a:solidFill>
        </p:spPr>
        <p:txBody>
          <a:bodyPr wrap="square" anchor="t" lIns="109728" rIns="109728" tIns="73152" bIns="73152">
            <a:spAutoFit/>
          </a:bodyPr>
          <a:lstStyle/>
          <a:p>
            <a:pPr algn="l"/>
            <a:r>
              <a:rPr sz="1400" b="0">
                <a:solidFill>
                  <a:srgbClr val="1B1F24"/>
                </a:solidFill>
                <a:latin typeface="Consolas"/>
              </a:rPr>
              <a:t>⟨OCT⟩ = 25[0-5] | 2[0-4][0-9] | 1[0-9][0-9] | ([1-9] | ε) [0-9]</a:t>
            </a:r>
          </a:p>
          <a:p>
            <a:pPr algn="l"/>
            <a:r>
              <a:rPr sz="1400" b="0">
                <a:solidFill>
                  <a:srgbClr val="1B1F24"/>
                </a:solidFill>
                <a:latin typeface="Consolas"/>
              </a:rPr>
              <a:t>⟨MASC⟩ = 3[0-2] | ([12] | ε) [0-9]</a:t>
            </a:r>
          </a:p>
          <a:p>
            <a:pPr algn="l"/>
            <a:r>
              <a:rPr sz="1400" b="0">
                <a:solidFill>
                  <a:srgbClr val="1B1F24"/>
                </a:solidFill>
                <a:latin typeface="Consolas"/>
              </a:rPr>
              <a:t>ER04 = ⟨OCT⟩ . ⟨OCT⟩ . ⟨OCT⟩ . ⟨OCT⟩ (/ ⟨MASC⟩ | ε)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274320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3A5F"/>
                </a:solidFill>
                <a:latin typeface="Segoe UI"/>
              </a:rPr>
              <a:t>No código (re.fullmatch)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54680"/>
            <a:ext cx="11247120" cy="502920"/>
          </a:xfrm>
          <a:prstGeom prst="rect">
            <a:avLst/>
          </a:prstGeom>
          <a:solidFill>
            <a:srgbClr val="EEF3F9"/>
          </a:solidFill>
        </p:spPr>
        <p:txBody>
          <a:bodyPr wrap="square" anchor="t" lIns="109728" rIns="109728" tIns="73152" bIns="73152">
            <a:spAutoFit/>
          </a:bodyPr>
          <a:lstStyle/>
          <a:p>
            <a:pPr algn="l"/>
            <a:r>
              <a:rPr sz="1200" b="0">
                <a:solidFill>
                  <a:srgbClr val="1B1F24"/>
                </a:solidFill>
                <a:latin typeface="Consolas"/>
              </a:rPr>
              <a:t>r"((25[0-5]|2[0-4][0-9]|1[0-9][0-9]|[1-9]?[0-9])\.){3}(25[0-5]|2[0-4][0-9]|1[0-9][0-9]|[1-9]?[0-9])(/(3[0-2]|[12]?[0-9]))?"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3794760"/>
          <a:ext cx="112928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3400"/>
                <a:gridCol w="4069080"/>
                <a:gridCol w="2880360"/>
              </a:tblGrid>
              <a:tr h="2743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No código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Na ER formal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Operador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Consolas"/>
                        </a:rPr>
                        <a:t>25[0-5]|2[0-4][0-9]|1[0-9][0-9]|[1-9]?[0-9]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Consolas"/>
                        </a:rPr>
                        <a:t>⟨OCT⟩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Segoe UI"/>
                        </a:rPr>
                        <a:t>União de 4 faixas disjuntas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Consolas"/>
                        </a:rPr>
                        <a:t>(…\.){3}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Consolas"/>
                        </a:rPr>
                        <a:t>⟨OCT⟩.⟨OCT⟩.⟨OCT⟩.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Segoe UI"/>
                        </a:rPr>
                        <a:t>Repetição exata de grupo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Consolas"/>
                        </a:rPr>
                        <a:t>\.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Consolas"/>
                        </a:rPr>
                        <a:t>.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Segoe UI"/>
                        </a:rPr>
                        <a:t>Escape: ponto literal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Consolas"/>
                        </a:rPr>
                        <a:t>(/(3[0-2]|[12]?[0-9]))?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Consolas"/>
                        </a:rPr>
                        <a:t>(/⟨MASC⟩ | ε)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Segoe UI"/>
                        </a:rPr>
                        <a:t>Máscara opcional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9418320" y="320040"/>
            <a:ext cx="2377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AFNε: 76 estados · 42 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144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Segoe UI"/>
              </a:rPr>
              <a:t>ER-04 — AFNε: quatro octetos e a máscara opcional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B6573"/>
                </a:solidFill>
                <a:latin typeface="Segoe UI"/>
              </a:rPr>
              <a:t>14/25</a:t>
            </a:r>
          </a:p>
        </p:txBody>
      </p:sp>
      <p:pic>
        <p:nvPicPr>
          <p:cNvPr id="5" name="Picture 4" descr="ER-04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461" y="914400"/>
            <a:ext cx="7176596" cy="1828800"/>
          </a:xfrm>
          <a:prstGeom prst="rect">
            <a:avLst/>
          </a:prstGeom>
        </p:spPr>
      </p:pic>
      <p:pic>
        <p:nvPicPr>
          <p:cNvPr id="6" name="Picture 5" descr="ER-04_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481" y="2788920"/>
            <a:ext cx="7588557" cy="1828800"/>
          </a:xfrm>
          <a:prstGeom prst="rect">
            <a:avLst/>
          </a:prstGeom>
        </p:spPr>
      </p:pic>
      <p:pic>
        <p:nvPicPr>
          <p:cNvPr id="7" name="Picture 6" descr="ER-04_p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2946" y="4663440"/>
            <a:ext cx="4135626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144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Segoe UI"/>
              </a:rPr>
              <a:t>ER-04 — linguagem e testes (8 aceitas, 8 rejeitadas)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B6573"/>
                </a:solidFill>
                <a:latin typeface="Segoe UI"/>
              </a:rPr>
              <a:t>15/25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573"/>
                </a:solidFill>
                <a:latin typeface="Segoe UI"/>
              </a:rPr>
              <a:t>L = Quatro octetos decimais de 0 a 255, sem zeros à esquerda, separados por '.', seguidos opcionalmente de '/' e de uma máscara de 0 a 32. L₄ é finita: 256⁴ × (1 + 33) endereços/rotas.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83080"/>
          <a:ext cx="11292840" cy="4507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5486400"/>
                <a:gridCol w="1325880"/>
                <a:gridCol w="4114800"/>
              </a:tblGrid>
              <a:tr h="26517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marL="73152" marR="73152" marT="9144" marB="914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Cadeia</a:t>
                      </a:r>
                    </a:p>
                  </a:txBody>
                  <a:tcPr marL="73152" marR="73152" marT="9144" marB="914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Esperado</a:t>
                      </a:r>
                    </a:p>
                  </a:txBody>
                  <a:tcPr marL="73152" marR="73152" marT="9144" marB="914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Justificativa</a:t>
                      </a:r>
                    </a:p>
                  </a:txBody>
                  <a:tcPr marL="73152" marR="73152" marT="9144" marB="9144" anchor="ctr">
                    <a:solidFill>
                      <a:srgbClr val="1F3A5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192.168.0.1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✔ aceita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IP privado sem máscara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10.0.0.1/8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✔ aceita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IP com máscara CIDR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255.255.255.255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✔ aceita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Maior octeto em todas as posições (caso-limite)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0.0.0.0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✔ aceita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Menor octeto em todas as posições (caso-limite)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172.16.254.1/32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✔ aceita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Maior máscara (/32) (caso-limite)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0.0.0.0/0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✔ aceita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Menor máscara (/0): rota padrão (caso-limite)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192.168.1.0/24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✔ aceita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Rede /24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200.249.250.199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✔ aceita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Usa os ramos 2[0-4]D, 25[0-5] e 1DD do octeto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256.0.0.1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✘ rejeitada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256 &gt; 255: octeto fora da faixa (caso-limite)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192.168.0.1/33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✘ rejeitada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Máscara 33 &gt; 32 (caso-limite)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192.168.0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✘ rejeitada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Apenas 3 octetos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1.2.3.4.5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✘ rejeitada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5 octetos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192.168.01.1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✘ rejeitada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Zero à esquerda no octeto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192.168.0.1/08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✘ rejeitada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Zero à esquerda na máscara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10.0.0.1/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✘ rejeitada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Barra sem máscara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ε (cadeia vazia)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✘ rejeitada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Cadeia vazia ε não pertence a L₄ (caso-limite)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144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Segoe UI"/>
              </a:rPr>
              <a:t>ER-05 — Alerta de Log (severidade)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B6573"/>
                </a:solidFill>
                <a:latin typeface="Segoe UI"/>
              </a:rPr>
              <a:t>16/25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573"/>
                </a:solidFill>
                <a:latin typeface="Segoe UI"/>
              </a:rPr>
              <a:t>Registro de evento: data válida, hora, severidade, dispositivo e mensagem.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112471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3A5F"/>
                </a:solidFill>
                <a:latin typeface="Segoe UI"/>
              </a:rPr>
              <a:t>Σ₅ = {A, …, Z} ∪ {a, …, z} ∪ {0, …, 9} ∪ {-, :, ⎵, _, .}   (67 símbolos)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274320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3A5F"/>
                </a:solidFill>
                <a:latin typeface="Segoe UI"/>
              </a:rPr>
              <a:t>ER formal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11247120" cy="2057400"/>
          </a:xfrm>
          <a:prstGeom prst="rect">
            <a:avLst/>
          </a:prstGeom>
          <a:solidFill>
            <a:srgbClr val="EEF3F9"/>
          </a:solidFill>
        </p:spPr>
        <p:txBody>
          <a:bodyPr wrap="square" anchor="t" lIns="109728" rIns="109728" tIns="73152" bIns="73152">
            <a:spAutoFit/>
          </a:bodyPr>
          <a:lstStyle/>
          <a:p>
            <a:pPr algn="l"/>
            <a:r>
              <a:rPr sz="1400" b="0">
                <a:solidFill>
                  <a:srgbClr val="1B1F24"/>
                </a:solidFill>
                <a:latin typeface="Consolas"/>
              </a:rPr>
              <a:t>⟨DATA⟩ = [0-9][0-9][0-9][0-9] - ((0[1-9] | 1[0-2]) - (0[1-9] | [12][0-9]) | (0[13-9] | 1[0-2]) - 30 | (0[13578] | 1[02]) - 31)</a:t>
            </a:r>
          </a:p>
          <a:p>
            <a:pPr algn="l"/>
            <a:r>
              <a:rPr sz="1400" b="0">
                <a:solidFill>
                  <a:srgbClr val="1B1F24"/>
                </a:solidFill>
                <a:latin typeface="Consolas"/>
              </a:rPr>
              <a:t>⟨HORA⟩ = ([01][0-9] | 2[0-3]) : [0-5][0-9] : [0-5][0-9]</a:t>
            </a:r>
          </a:p>
          <a:p>
            <a:pPr algn="l"/>
            <a:r>
              <a:rPr sz="1400" b="0">
                <a:solidFill>
                  <a:srgbClr val="1B1F24"/>
                </a:solidFill>
                <a:latin typeface="Consolas"/>
              </a:rPr>
              <a:t>⟨SEV⟩ = INFO | WARN | ERROR | CRIT</a:t>
            </a:r>
          </a:p>
          <a:p>
            <a:pPr algn="l"/>
            <a:r>
              <a:rPr sz="1400" b="0">
                <a:solidFill>
                  <a:srgbClr val="1B1F24"/>
                </a:solidFill>
                <a:latin typeface="Consolas"/>
              </a:rPr>
              <a:t>⟨ID⟩ = (SEN | ATU) - [A-Z][A-Z]([A-Z] | ε) - [0-9][0-9][0-9][0-9]</a:t>
            </a:r>
          </a:p>
          <a:p>
            <a:pPr algn="l"/>
            <a:r>
              <a:rPr sz="1400" b="0">
                <a:solidFill>
                  <a:srgbClr val="1B1F24"/>
                </a:solidFill>
                <a:latin typeface="Consolas"/>
              </a:rPr>
              <a:t>⟨PAL⟩ = [A-Za-z0-9_.-] [A-Za-z0-9_.-]*</a:t>
            </a:r>
          </a:p>
          <a:p>
            <a:pPr algn="l"/>
            <a:r>
              <a:rPr sz="1400" b="0">
                <a:solidFill>
                  <a:srgbClr val="1B1F24"/>
                </a:solidFill>
                <a:latin typeface="Consolas"/>
              </a:rPr>
              <a:t>⟨MSG⟩ = ⟨PAL⟩ (⎵ ⟨PAL⟩)*</a:t>
            </a:r>
          </a:p>
          <a:p>
            <a:pPr algn="l"/>
            <a:r>
              <a:rPr sz="1400" b="0">
                <a:solidFill>
                  <a:srgbClr val="1B1F24"/>
                </a:solidFill>
                <a:latin typeface="Consolas"/>
              </a:rPr>
              <a:t>ER05 = ⟨DATA⟩ T ⟨HORA⟩ ⎵ ⟨SEV⟩ ⎵ ⟨ID⟩ : ⎵ ⟨MSG⟩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274320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3A5F"/>
                </a:solidFill>
                <a:latin typeface="Segoe UI"/>
              </a:rPr>
              <a:t>No código (re.fullmatch)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43400"/>
            <a:ext cx="11247120" cy="502920"/>
          </a:xfrm>
          <a:prstGeom prst="rect">
            <a:avLst/>
          </a:prstGeom>
          <a:solidFill>
            <a:srgbClr val="EEF3F9"/>
          </a:solidFill>
        </p:spPr>
        <p:txBody>
          <a:bodyPr wrap="square" anchor="t" lIns="109728" rIns="109728" tIns="73152" bIns="73152">
            <a:spAutoFit/>
          </a:bodyPr>
          <a:lstStyle/>
          <a:p>
            <a:pPr algn="l"/>
            <a:r>
              <a:rPr sz="1200" b="0">
                <a:solidFill>
                  <a:srgbClr val="1B1F24"/>
                </a:solidFill>
                <a:latin typeface="Consolas"/>
              </a:rPr>
              <a:t>r"[0-9]{4}-((0[1-9]|1[0-2])-(0[1-9]|[12][0-9])|(0[13-9]|1[0-2])-30|(0[13578]|1[02])-31)T([01][0-9]|2[0-3]):[0-5][0-9]:[0-5][0-9] (INFO|WARN|ERROR|CRIT) (SEN|ATU)-[A-Z]{2,3}-[0-9]{4}: [A-Za-z0-9_.-]+( [A-Za-z0-9_.-]+)*"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4983480"/>
          <a:ext cx="112928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3400"/>
                <a:gridCol w="4069080"/>
                <a:gridCol w="2880360"/>
              </a:tblGrid>
              <a:tr h="2743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No código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Na ER formal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Operador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Consolas"/>
                        </a:rPr>
                        <a:t>(…-(0[1-9]|[12][0-9])|…-30|…-31)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Consolas"/>
                        </a:rPr>
                        <a:t>três casos em ⟨DATA⟩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Segoe UI"/>
                        </a:rPr>
                        <a:t>União: dia válido por mês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Consolas"/>
                        </a:rPr>
                        <a:t>(INFO|WARN|ERROR|CRIT)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Consolas"/>
                        </a:rPr>
                        <a:t>⟨SEV⟩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Segoe UI"/>
                        </a:rPr>
                        <a:t>União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Consolas"/>
                        </a:rPr>
                        <a:t>[A-Za-z0-9_.-]+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Consolas"/>
                        </a:rPr>
                        <a:t>⟨PAL⟩ = c c*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Segoe UI"/>
                        </a:rPr>
                        <a:t>Fecho positivo: r+ = rr*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Consolas"/>
                        </a:rPr>
                        <a:t>( [A-Za-z0-9_.-]+)*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Consolas"/>
                        </a:rPr>
                        <a:t>(⎵ ⟨PAL⟩)*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Segoe UI"/>
                        </a:rPr>
                        <a:t>Fecho de Kleene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9418320" y="320040"/>
            <a:ext cx="2377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AFNε: 114 estados · 51 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144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Segoe UI"/>
              </a:rPr>
              <a:t>ER-05 — AFNε da data e da hora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B6573"/>
                </a:solidFill>
                <a:latin typeface="Segoe UI"/>
              </a:rPr>
              <a:t>17/25</a:t>
            </a:r>
          </a:p>
        </p:txBody>
      </p:sp>
      <p:pic>
        <p:nvPicPr>
          <p:cNvPr id="5" name="Picture 4" descr="ER-05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77511"/>
            <a:ext cx="11247120" cy="2828457"/>
          </a:xfrm>
          <a:prstGeom prst="rect">
            <a:avLst/>
          </a:prstGeom>
        </p:spPr>
      </p:pic>
      <p:pic>
        <p:nvPicPr>
          <p:cNvPr id="6" name="Picture 5" descr="ER-05_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3667"/>
            <a:ext cx="11247120" cy="184254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144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Segoe UI"/>
              </a:rPr>
              <a:t>ER-05 — a mensagem usa fecho de Kleene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B6573"/>
                </a:solidFill>
                <a:latin typeface="Segoe UI"/>
              </a:rPr>
              <a:t>18/25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822960"/>
          </a:xfrm>
          <a:prstGeom prst="rect">
            <a:avLst/>
          </a:prstGeom>
          <a:solidFill>
            <a:srgbClr val="EEF3F9"/>
          </a:solidFill>
        </p:spPr>
        <p:txBody>
          <a:bodyPr wrap="square" anchor="t" lIns="109728" rIns="109728" tIns="73152" bIns="73152">
            <a:spAutoFit/>
          </a:bodyPr>
          <a:lstStyle/>
          <a:p>
            <a:pPr algn="l"/>
            <a:r>
              <a:rPr sz="1500" b="0">
                <a:solidFill>
                  <a:srgbClr val="1B1F24"/>
                </a:solidFill>
                <a:latin typeface="Consolas"/>
              </a:rPr>
              <a:t>⟨PAL⟩ = [A-Za-z0-9_.-] [A-Za-z0-9_.-]*        ⟨MSG⟩ = ⟨PAL⟩ (⎵ ⟨PAL⟩)*</a:t>
            </a:r>
          </a:p>
          <a:p>
            <a:pPr algn="l"/>
            <a:r>
              <a:rPr sz="1500" b="0">
                <a:solidFill>
                  <a:srgbClr val="1B1F24"/>
                </a:solidFill>
                <a:latin typeface="Consolas"/>
              </a:rPr>
              <a:t>No código:  [A-Za-z0-9_.-]+( [A-Za-z0-9_.-]+)*</a:t>
            </a:r>
          </a:p>
        </p:txBody>
      </p:sp>
      <p:pic>
        <p:nvPicPr>
          <p:cNvPr id="6" name="Picture 5" descr="ER-05_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26548"/>
            <a:ext cx="11247120" cy="240490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074920"/>
            <a:ext cx="1124712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B1F24"/>
                </a:solidFill>
                <a:latin typeface="Segoe UI"/>
              </a:rPr>
              <a:t>• Laço interno: o fecho de [A-Za-z0-9_.-]* (q104 ↔ q106). Laço externo: (⎵⟨PAL⟩)*, que volta de q112 para q107.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B1F24"/>
                </a:solidFill>
                <a:latin typeface="Segoe UI"/>
              </a:rPr>
              <a:t>• Por causa do fecho, L₅ é a única linguagem INFINITA do projeto; as outras quatro são finitas.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B1F24"/>
                </a:solidFill>
                <a:latin typeface="Segoe UI"/>
              </a:rPr>
              <a:t>• Rejeita mensagem vazia, dois espaços seguidos e símbolos fora de Σ₅ (ex.: pressão, com ã).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144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Segoe UI"/>
              </a:rPr>
              <a:t>ER-05 — linguagem e testes (8 aceitas, 8 rejeitadas)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B6573"/>
                </a:solidFill>
                <a:latin typeface="Segoe UI"/>
              </a:rPr>
              <a:t>19/25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573"/>
                </a:solidFill>
                <a:latin typeface="Segoe UI"/>
              </a:rPr>
              <a:t>L = Data AAAA-MM-DD com dia válido para o mês (fevereiro até 29; abril, junho, setembro e novembro até 30; os demais até 31), 'T', hora hh:mm:ss (00:00:00 a 23:59:59), espaço, nível de severidade (INFO, WARN, ERROR ou CRIT), espaço, ID do dispositivo, ': ' e uma mensagem formada por uma ou mais palavras de [A-Za-z0-9_.-] separadas por exatamente um espaço. L₅ é INFINITA, pois a mensagem usa o fecho de Kleene.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83080"/>
          <a:ext cx="11292840" cy="4507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5486400"/>
                <a:gridCol w="1325880"/>
                <a:gridCol w="4114800"/>
              </a:tblGrid>
              <a:tr h="26517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marL="73152" marR="73152" marT="9144" marB="914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Cadeia</a:t>
                      </a:r>
                    </a:p>
                  </a:txBody>
                  <a:tcPr marL="73152" marR="73152" marT="9144" marB="914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Esperado</a:t>
                      </a:r>
                    </a:p>
                  </a:txBody>
                  <a:tcPr marL="73152" marR="73152" marT="9144" marB="914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Justificativa</a:t>
                      </a:r>
                    </a:p>
                  </a:txBody>
                  <a:tcPr marL="73152" marR="73152" marT="9144" marB="9144" anchor="ctr">
                    <a:solidFill>
                      <a:srgbClr val="1F3A5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2026-09-30T08:15:00 INFO SEN-TM-0001: leitura normal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✔ aceita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Registro informativo típico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2026-12-31T23:59:59 CRIT ATU-XX-9999: falha critica no motor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✔ aceita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Último segundo do ano (caso-limite)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2026-01-01T00:00:00 WARN SEN-AB-1234: bateria fraca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✔ aceita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Primeiro instante do ano (caso-limite)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2026-02-28T12:30:45 ERROR ATU-VLV-0420: travamento_123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✔ aceita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Mensagem com _ e dígitos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2028-02-29T06:00:00 INFO SEN-TM-0001: ok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✔ aceita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29 de fevereiro (caso-limite)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2026-04-30T10:00:00 WARN ATU-VLV-0420: valvula 80.5 aberta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✔ aceita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Dia 30 em mês de 30 dias (caso-limite)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2026-07-31T18:45:00 ERROR SEN-PH-0750: sensor-ph fora_de_faixa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✔ aceita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Dia 31 em mês de 31 dias (caso-limite)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2026-10-15T14:22:10 INFO SEN-ZZ-0000: .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✔ aceita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Mensagem de 1 símbolo (caso-limite)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2026-13-01T10:00:00 INFO SEN-TM-0001: ok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✘ rejeitada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Mês 13 não existe (caso-limite)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2026-02-30T10:00:00 INFO SEN-TM-0001: ok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✘ rejeitada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30 de fevereiro não existe (caso-limite)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2026-04-31T10:00:00 INFO SEN-TM-0001: ok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✘ rejeitada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31 de abril não existe (caso-limite)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2026-09-30T24:00:00 INFO SEN-TM-0001: ok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✘ rejeitada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Hora 24 (máximo 23) (caso-limite)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2026-09-30T08:15:00 DEBUG SEN-TM-0001: ok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✘ rejeitada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DEBUG não pertence à união de severidades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2026-09-30T08:15:00 INFO SEN-TM-0001:⎵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✘ rejeitada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Mensagem vazia (caso-limite)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2026-09-30T08:15:00 INFO SEN-TM-0001: leitura  dupla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✘ rejeitada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Dois espaços seguidos na mensagem</a:t>
                      </a:r>
                    </a:p>
                  </a:txBody>
                  <a:tcPr marL="73152" marR="73152" marT="9144" marB="9144" anchor="ctr">
                    <a:solidFill>
                      <a:srgbClr val="F7F9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onsolas"/>
                        </a:rPr>
                        <a:t>2026-09-30T08:15:00 INFO SEN-TM-0001: pressão alta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✘ rejeitada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Segoe UI"/>
                        </a:rPr>
                        <a:t>'ã' não pertence a Σ₅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144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Segoe UI"/>
              </a:rPr>
              <a:t>Como garantimos que é a mesma linguagem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B6573"/>
                </a:solidFill>
                <a:latin typeface="Segoe UI"/>
              </a:rPr>
              <a:t>20/25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852160" cy="5120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3A5F"/>
                </a:solidFill>
                <a:latin typeface="Segoe UI"/>
              </a:rPr>
              <a:t>1. Código → AFNε (Thompson)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B1F24"/>
                </a:solidFill>
                <a:latin typeface="Segoe UI"/>
              </a:rPr>
              <a:t>O AFNε é construído a partir do padrão exato do código.</a:t>
            </a:r>
          </a:p>
          <a:p>
            <a:pPr algn="l">
              <a:spcBef>
                <a:spcPts val="1000"/>
              </a:spcBef>
            </a:pPr>
            <a:r>
              <a:rPr sz="1700" b="1">
                <a:solidFill>
                  <a:srgbClr val="1F3A5F"/>
                </a:solidFill>
                <a:latin typeface="Segoe UI"/>
              </a:rPr>
              <a:t>2. ER formal ≡ código: prova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B1F24"/>
                </a:solidFill>
                <a:latin typeface="Segoe UI"/>
              </a:rPr>
              <a:t>Busca em largura sobre o produto dos dois AFNε (construção de subconjuntos). Nenhuma cadeia distingue as linguagens.</a:t>
            </a:r>
          </a:p>
          <a:p>
            <a:pPr algn="l">
              <a:spcBef>
                <a:spcPts val="1000"/>
              </a:spcBef>
            </a:pPr>
            <a:r>
              <a:rPr sz="1700" b="1">
                <a:solidFill>
                  <a:srgbClr val="1F3A5F"/>
                </a:solidFill>
                <a:latin typeface="Segoe UI"/>
              </a:rPr>
              <a:t>3. Arquivo .jff ≡ código: prova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B1F24"/>
                </a:solidFill>
                <a:latin typeface="Segoe UI"/>
              </a:rPr>
              <a:t>O .jff é lido de volta e comparado pelo mesmo algoritmo.</a:t>
            </a:r>
          </a:p>
          <a:p>
            <a:pPr algn="l">
              <a:spcBef>
                <a:spcPts val="1000"/>
              </a:spcBef>
            </a:pPr>
            <a:r>
              <a:rPr sz="1700" b="1">
                <a:solidFill>
                  <a:srgbClr val="1F3A5F"/>
                </a:solidFill>
                <a:latin typeface="Segoe UI"/>
              </a:rPr>
              <a:t>4. Executado no próprio JFLAP 7.1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B1F24"/>
                </a:solidFill>
                <a:latin typeface="Segoe UI"/>
              </a:rPr>
              <a:t>80 de 80 cadeias de teste com o resultado esperado.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0" y="1097280"/>
          <a:ext cx="51663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514600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Verificação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Resultado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Segoe UI"/>
                        </a:rPr>
                        <a:t>ER formal ≡ código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Segoe UI"/>
                        </a:rPr>
                        <a:t>5/5 provadas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Segoe UI"/>
                        </a:rPr>
                        <a:t>.jff ≡ código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Segoe UI"/>
                        </a:rPr>
                        <a:t>5/5 provadas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Segoe UI"/>
                        </a:rPr>
                        <a:t>AFNε × re (aleatórias)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Segoe UI"/>
                        </a:rPr>
                        <a:t>10.000 cadeias, 0 divergências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Segoe UI"/>
                        </a:rPr>
                        <a:t>JFLAP 7.1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Segoe UI"/>
                        </a:rPr>
                        <a:t>80/80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Segoe UI"/>
                        </a:rPr>
                        <a:t>Linguagens disjuntas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Segoe UI"/>
                        </a:rPr>
                        <a:t>interseções vazias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0" y="3931920"/>
            <a:ext cx="5166360" cy="1188720"/>
          </a:xfrm>
          <a:prstGeom prst="rect">
            <a:avLst/>
          </a:prstGeom>
          <a:solidFill>
            <a:srgbClr val="EEF3F9"/>
          </a:solidFill>
        </p:spPr>
        <p:txBody>
          <a:bodyPr wrap="square" anchor="t" lIns="109728" rIns="109728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573"/>
                </a:solidFill>
                <a:latin typeface="Segoe UI"/>
              </a:rPr>
              <a:t>Achado: o JFLAP 7.1 trata rótulos com '[' como intervalo ([a-z]) e falha com o símbolo '['. Por isso a severidade é INFO, não [INFO]: o .jff reconhece a linguagem exata, sem símbolos substitutos.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144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Segoe UI"/>
              </a:rPr>
              <a:t>Demonstração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B6573"/>
                </a:solidFill>
                <a:latin typeface="Segoe UI"/>
              </a:rPr>
              <a:t>21/25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92840" cy="1325880"/>
          </a:xfrm>
          <a:prstGeom prst="rect">
            <a:avLst/>
          </a:prstGeom>
          <a:solidFill>
            <a:srgbClr val="EEF3F9"/>
          </a:solidFill>
        </p:spPr>
        <p:txBody>
          <a:bodyPr wrap="square" anchor="t" lIns="109728" rIns="109728" tIns="73152" bIns="73152">
            <a:spAutoFit/>
          </a:bodyPr>
          <a:lstStyle/>
          <a:p>
            <a:pPr algn="l"/>
            <a:r>
              <a:rPr sz="1400" b="0">
                <a:solidFill>
                  <a:srgbClr val="1B1F24"/>
                </a:solidFill>
                <a:latin typeface="Consolas"/>
              </a:rPr>
              <a:t>python src/auditor.py dados/turno_caldeira.txt          # lote + relatório + filtros</a:t>
            </a:r>
          </a:p>
          <a:p>
            <a:pPr algn="l"/>
            <a:r>
              <a:rPr sz="1400" b="0">
                <a:solidFill>
                  <a:srgbClr val="1B1F24"/>
                </a:solidFill>
                <a:latin typeface="Consolas"/>
              </a:rPr>
              <a:t>python src/auditor.py --pacote "CMD ATU-VLV-0201 AJUSTAR 120%"</a:t>
            </a:r>
          </a:p>
          <a:p>
            <a:pPr algn="l"/>
            <a:r>
              <a:rPr sz="1400" b="0">
                <a:solidFill>
                  <a:srgbClr val="1B1F24"/>
                </a:solidFill>
                <a:latin typeface="Consolas"/>
              </a:rPr>
              <a:t>python src/auditor.py --explicar "ATU-VLV-0420"            # simulação do AFNε</a:t>
            </a:r>
          </a:p>
          <a:p>
            <a:pPr algn="l"/>
            <a:r>
              <a:rPr sz="1400" b="0">
                <a:solidFill>
                  <a:srgbClr val="1B1F24"/>
                </a:solidFill>
                <a:latin typeface="Consolas"/>
              </a:rPr>
              <a:t>JFLAP: automatos/jflap/ER-03.jff → Input › Multiple Run → Load Inputs (entradas/ER-03.txt)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11292840" cy="3840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>
                <a:solidFill>
                  <a:srgbClr val="1B1F24"/>
                </a:solidFill>
                <a:latin typeface="Consolas"/>
              </a:rPr>
              <a:t>  [ERRO] ER-03 Comando de Controle: valor de ajuste 120% acima de 100%; o intervalo aceito é 0 a 100%.</a:t>
            </a:r>
          </a:p>
          <a:p>
            <a:pPr algn="l"/>
            <a:r>
              <a:rPr sz="1300" b="0">
                <a:solidFill>
                  <a:srgbClr val="1B1F24"/>
                </a:solidFill>
                <a:latin typeface="Consolas"/>
              </a:rPr>
              <a:t>         CMD ATU-VLV-0201 AJUSTAR 120%</a:t>
            </a:r>
          </a:p>
          <a:p>
            <a:pPr algn="l"/>
            <a:r>
              <a:rPr sz="1300" b="0">
                <a:solidFill>
                  <a:srgbClr val="1B1F24"/>
                </a:solidFill>
                <a:latin typeface="Consolas"/>
              </a:rPr>
              <a:t>                                    ^</a:t>
            </a:r>
          </a:p>
          <a:p>
            <a:pPr algn="l"/>
            <a:r>
              <a:rPr sz="1300" b="0">
                <a:solidFill>
                  <a:srgbClr val="1B1F24"/>
                </a:solidFill>
                <a:latin typeface="Consolas"/>
              </a:rPr>
              <a:t>         Onde: coluna 28: símbolo '0' inesperado; esperado '%'</a:t>
            </a:r>
          </a:p>
          <a:p>
            <a:pPr algn="l"/>
          </a:p>
          <a:p>
            <a:pPr algn="l"/>
            <a:r>
              <a:rPr sz="1300" b="0">
                <a:solidFill>
                  <a:srgbClr val="1B1F24"/>
                </a:solidFill>
                <a:latin typeface="Consolas"/>
              </a:rPr>
              <a:t>  passo   lido   conjunto de estados ativos (após o fecho-ε)</a:t>
            </a:r>
          </a:p>
          <a:p>
            <a:pPr algn="l"/>
            <a:r>
              <a:rPr sz="1300" b="0">
                <a:solidFill>
                  <a:srgbClr val="1B1F24"/>
                </a:solidFill>
                <a:latin typeface="Consolas"/>
              </a:rPr>
              <a:t>      0    —     {q0, q1, q2}</a:t>
            </a:r>
          </a:p>
          <a:p>
            <a:pPr algn="l"/>
            <a:r>
              <a:rPr sz="1300" b="0">
                <a:solidFill>
                  <a:srgbClr val="1B1F24"/>
                </a:solidFill>
                <a:latin typeface="Consolas"/>
              </a:rPr>
              <a:t>      1   'A'    {q4}</a:t>
            </a:r>
          </a:p>
          <a:p>
            <a:pPr algn="l"/>
            <a:r>
              <a:rPr sz="1300" b="0">
                <a:solidFill>
                  <a:srgbClr val="1B1F24"/>
                </a:solidFill>
                <a:latin typeface="Consolas"/>
              </a:rPr>
              <a:t>      2   'T'    {q6}</a:t>
            </a:r>
          </a:p>
          <a:p>
            <a:pPr algn="l"/>
            <a:r>
              <a:rPr sz="1300" b="0">
                <a:solidFill>
                  <a:srgbClr val="1B1F24"/>
                </a:solidFill>
                <a:latin typeface="Consolas"/>
              </a:rPr>
              <a:t>      ⋮</a:t>
            </a:r>
          </a:p>
          <a:p>
            <a:pPr algn="l"/>
            <a:r>
              <a:rPr sz="1300" b="0">
                <a:solidFill>
                  <a:srgbClr val="1B1F24"/>
                </a:solidFill>
                <a:latin typeface="Consolas"/>
              </a:rPr>
              <a:t>     12   '0'    {q18}</a:t>
            </a:r>
          </a:p>
          <a:p>
            <a:pPr algn="l"/>
            <a:r>
              <a:rPr sz="1300" b="0">
                <a:solidFill>
                  <a:srgbClr val="1B1F24"/>
                </a:solidFill>
                <a:latin typeface="Consolas"/>
              </a:rPr>
              <a:t>Resultado: ACEITA — o último conjunto contém o estado final (q18).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144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Segoe UI"/>
              </a:rPr>
              <a:t>Testes e 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B6573"/>
                </a:solidFill>
                <a:latin typeface="Segoe UI"/>
              </a:rPr>
              <a:t>22/25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928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086600"/>
                <a:gridCol w="1463040"/>
              </a:tblGrid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Arquivo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O que verifica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Testes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F24"/>
                          </a:solidFill>
                          <a:latin typeface="Consolas"/>
                        </a:rPr>
                        <a:t>test_aplicacao.py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F24"/>
                          </a:solidFill>
                          <a:latin typeface="Segoe UI"/>
                        </a:rPr>
                        <a:t>Entradas vazias/inválidas, diagnóstico, lote, CLI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F24"/>
                          </a:solidFill>
                          <a:latin typeface="Segoe UI"/>
                        </a:rPr>
                        <a:t>66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F24"/>
                          </a:solidFill>
                          <a:latin typeface="Consolas"/>
                        </a:rPr>
                        <a:t>test_automatos.py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F24"/>
                          </a:solidFill>
                          <a:latin typeface="Segoe UI"/>
                        </a:rPr>
                        <a:t>AFNε × re, provas de equivalência, .jff, linguagens disjuntas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F24"/>
                          </a:solidFill>
                          <a:latin typeface="Segoe UI"/>
                        </a:rPr>
                        <a:t>123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F24"/>
                          </a:solidFill>
                          <a:latin typeface="Consolas"/>
                        </a:rPr>
                        <a:t>test_expressoes.py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F24"/>
                          </a:solidFill>
                          <a:latin typeface="Segoe UI"/>
                        </a:rPr>
                        <a:t>Cadeias aceitas/rejeitadas, requisitos 6+6, categoria única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F24"/>
                          </a:solidFill>
                          <a:latin typeface="Segoe UI"/>
                        </a:rPr>
                        <a:t>130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F24"/>
                          </a:solidFill>
                          <a:latin typeface="Consolas"/>
                        </a:rPr>
                        <a:t>Total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F24"/>
                          </a:solidFill>
                          <a:latin typeface="Segoe UI"/>
                        </a:rPr>
                        <a:t>python -m pytest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F24"/>
                          </a:solidFill>
                          <a:latin typeface="Segoe UI"/>
                        </a:rPr>
                        <a:t>319 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840480"/>
            <a:ext cx="5486400" cy="2560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3A5F"/>
                </a:solidFill>
                <a:latin typeface="Segoe UI"/>
              </a:rPr>
              <a:t>Casos-limite cobertos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B1F24"/>
                </a:solidFill>
                <a:latin typeface="Segoe UI"/>
              </a:rPr>
              <a:t>• 0% e 100%; 850 e 1099 hPa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B1F24"/>
                </a:solidFill>
                <a:latin typeface="Segoe UI"/>
              </a:rPr>
              <a:t>• octetos 0 e 255; máscaras /0 e /32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B1F24"/>
                </a:solidFill>
                <a:latin typeface="Segoe UI"/>
              </a:rPr>
              <a:t>• 29/02, 30/04, 31/07 aceitas; 30/02, 31/04, hora 24 rejeitadas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B1F24"/>
                </a:solidFill>
                <a:latin typeface="Segoe UI"/>
              </a:rPr>
              <a:t>• menor e maior cadeia de L₁; a cadeia vazia 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3840480"/>
            <a:ext cx="5486400" cy="2560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3A5F"/>
                </a:solidFill>
                <a:latin typeface="Segoe UI"/>
              </a:rPr>
              <a:t>Além das 80 cadeias de teste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B1F24"/>
                </a:solidFill>
                <a:latin typeface="Segoe UI"/>
              </a:rPr>
              <a:t>• JFLAP 7.1: 80/80 com o resultado esperado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B1F24"/>
                </a:solidFill>
                <a:latin typeface="Segoe UI"/>
              </a:rPr>
              <a:t>• 10.000 cadeias aleatórias: 0 divergências entre AFNε e re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B1F24"/>
                </a:solidFill>
                <a:latin typeface="Segoe UI"/>
              </a:rPr>
              <a:t>• Dados de exemplo: 20 íntegros e 14 corrompidos, todos com a causa correta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144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Segoe UI"/>
              </a:rPr>
              <a:t>Limitações e possíveis melhorias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B6573"/>
                </a:solidFill>
                <a:latin typeface="Segoe UI"/>
              </a:rPr>
              <a:t>23/25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577840" cy="5120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F3A5F"/>
                </a:solidFill>
                <a:latin typeface="Segoe UI"/>
              </a:rPr>
              <a:t>Limitações (falsos resultados)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1B1F24"/>
                </a:solidFill>
                <a:latin typeface="Segoe UI"/>
              </a:rPr>
              <a:t>• A validação é léxica: um ID bem formado passa mesmo se o dispositivo não existir.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1B1F24"/>
                </a:solidFill>
                <a:latin typeface="Segoe UI"/>
              </a:rPr>
              <a:t>• −0C é aceito; uma leitura real acima de 199.9 °C é bloqueada.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1B1F24"/>
                </a:solidFill>
                <a:latin typeface="Segoe UI"/>
              </a:rPr>
              <a:t>• 29/02 é aceito em qualquer ano.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1B1F24"/>
                </a:solidFill>
                <a:latin typeface="Segoe UI"/>
              </a:rPr>
              <a:t>• A mensagem do log não aceita acentos.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005840"/>
            <a:ext cx="5486400" cy="5120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F3A5F"/>
                </a:solidFill>
                <a:latin typeface="Segoe UI"/>
              </a:rPr>
              <a:t>Melhorias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1B1F24"/>
                </a:solidFill>
                <a:latin typeface="Segoe UI"/>
              </a:rPr>
              <a:t>• Ano bissexto: também é regular (anos de 4 dígitos formam um conjunto finito), mas o AFNε cresceria muito.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1B1F24"/>
                </a:solidFill>
                <a:latin typeface="Segoe UI"/>
              </a:rPr>
              <a:t>• Faixas configuráveis por tipo de sensor.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1B1F24"/>
                </a:solidFill>
                <a:latin typeface="Segoe UI"/>
              </a:rPr>
              <a:t>• Leitura contínua de porta serial ou socket.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1B1F24"/>
                </a:solidFill>
                <a:latin typeface="Segoe UI"/>
              </a:rPr>
              <a:t>• Minimizar o AFD (Hopcroft) e comparar com o AFNε de Thompson.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144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FFFFF"/>
                </a:solidFill>
                <a:latin typeface="Segoe UI"/>
              </a:rPr>
              <a:t>Contribuições e uso de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B6573"/>
                </a:solidFill>
                <a:latin typeface="Segoe UI"/>
              </a:rPr>
              <a:t>24/25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928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36676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Integrante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Contribuições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24"/>
                          </a:solidFill>
                          <a:latin typeface="Segoe UI"/>
                        </a:rPr>
                        <a:t>Augusto Rodrigues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24"/>
                          </a:solidFill>
                          <a:latin typeface="Segoe UI"/>
                        </a:rPr>
                        <a:t>ER-01 e ER-02 (fichas, AFNε, testes); diagnóstico de falhas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24"/>
                          </a:solidFill>
                          <a:latin typeface="Segoe UI"/>
                        </a:rPr>
                        <a:t>Caue Jadão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24"/>
                          </a:solidFill>
                          <a:latin typeface="Segoe UI"/>
                        </a:rPr>
                        <a:t>ER-03 e ER-04; revisão geral, verificação de equivalência, relatório e repositório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24"/>
                          </a:solidFill>
                          <a:latin typeface="Segoe UI"/>
                        </a:rPr>
                        <a:t>César Augusto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24"/>
                          </a:solidFill>
                          <a:latin typeface="Segoe UI"/>
                        </a:rPr>
                        <a:t>ER-05; modo lote, relatório de conformidade, exportação e apresentação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291840"/>
            <a:ext cx="11292840" cy="2743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3A5F"/>
                </a:solidFill>
                <a:latin typeface="Segoe UI"/>
              </a:rPr>
              <a:t>Uso de IA (declarado no relatório e no README)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B1F24"/>
                </a:solidFill>
                <a:latin typeface="Segoe UI"/>
              </a:rPr>
              <a:t>• Antigravity: versão inicial do código, dos testes e dos primeiros .jff.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B1F24"/>
                </a:solidFill>
                <a:latin typeface="Segoe UI"/>
              </a:rPr>
              <a:t>• Claude (Anthropic): revisão das ERs e da notação formal, construção de Thompson, verificação de equivalência, testes, relatório e slides.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B1F24"/>
                </a:solidFill>
                <a:latin typeface="Segoe UI"/>
              </a:rPr>
              <a:t>• As decisões de projeto são da equipe; todos compreendem, explicam e modificam o conteúdo.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0">
                <a:solidFill>
                  <a:srgbClr val="FFFFFF"/>
                </a:solidFill>
                <a:latin typeface="Segoe UI"/>
              </a:rPr>
              <a:t>Obrigado!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D6E2F0"/>
                </a:solidFill>
                <a:latin typeface="Segoe UI"/>
              </a:rPr>
              <a:t>Perguntas?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AFC3DB"/>
                </a:solidFill>
                <a:latin typeface="Segoe UI"/>
              </a:rPr>
              <a:t>github.com/cauebarroso/Auditor-de-sensores-industriais-com-express-es-regulares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