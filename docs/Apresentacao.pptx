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Augusto (~15 s). Apresentar a equipe e o tema em uma frase: um firewall que só deixa passar pacotes de sensores e atuadores que pertencem à linguagem de uma das cinco 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Augusto (~1 min). Contextualizar o problema e mostrar entradas, processamento e saídas. Destacar o tratamento de entradas vazias e inválidas e a organização em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Augusto (~40 s). A ER formal e o código são duas escritas da mesma linguagem; os atalhos do Python (+, ?, {m,n}) são derivados dos operadores básicos. O próprio programa rejeita recursos não regulares.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Augusto (~1 min). Ficha: ER formal com ⟨ID⟩; {2,3} é rr(r | ε) e {4} é a concatenação de 4 cópias. No AFNε (rodapé): a união SEN | ATU abre dois ramos por ε; o desvio ε entre q12 e q13 é a terceira letra opcional. Casos-limite: 0000, 9999, 5 dígitos, 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Augusto (~45 s). Três ramos na união, um por grandeza. ([1-9] | ε)[0-9] impede zero à esquerda; o escape \. torna o ponto literal. Casos-limite: extremos de cada faixa (−199.9 e 199.9 C, 100.0%, 850 hPa; 200C, 100.5%, 849 e 1100 hPa rejeitados).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Augusto (~30 s). Parte 1: o ID do sensor. Parte 2: três movimentos ε abrem os ramos TEMP, UMID e PRES. No ramo TEMP, o desvio ε paralelo ao '-' é o sinal opcional (- | ε).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Caue (~45 s). Cinco ações por união; o espaço é símbolo do alfabeto (⎵), por isso não usamos \s. ⟨PCT⟩ = 100 | ([1-9] | ε)[0-9] cobre 0 a 100. Casos-limite: 0% e 100% aceitos, 101% e espaço extra no final rejeitados.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Caue (~30 s). A partir de q17, cinco movimentos ε abrem os ramos das ações. No ramo AJUSTAR, a união 100 | ([1-9] | ε)[0-9] aparece como dois ramos, com o desvio ε do dígito opcional.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Caue (~45 s). O octeto é dividido em faixas disjuntas (250–255, 200–249, 100–199, 0–99), construção clássica citada no relatório; a máscara CIDR e a proibição de zeros à esquerda completam a ER. Casos-limite: 0.0.0.0, 255.255.255.255, /0 e /32 aceitos; 256 e /33 rejeitados.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Caue (~30 s). Cada ⟨OCT⟩ abre 4 ramos por ε e os fecha antes do ponto. Na parte 3, o desvio ε de q67 para o final é a máscara opcional (/⟨MASC⟩ | ε).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César (~45 s). Definições regulares: ⟨DATA⟩, ⟨HORA⟩, ⟨SEV⟩, ⟨ID⟩ (reuso da ER-01) e ⟨MSG⟩. Casos-limite de data: 29/02, 30/04 e 31/07 aceitos; 30/02, 31/04, mês 13 e hora 24 rejeitados.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César (~1 min). A data aceita o dia certo de cada mês: validar dia por mês É regular, porque o conjunto de datas é finito. Na mensagem, os dois laços do fecho de Kleene tornam L₅ a única linguagem infinita.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Caue (~1 min). Esta é a regra central do guia. Não comparamos só exemplos: o algoritmo percorre todos os pares de estados alcançáveis, então é uma prova de equivalência. Resultado atual do pytest: 319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César (~1 min 30 s). Rodar ao vivo: lote com o turno da caldeira, um pacote rejeitado com o apontador de coluna e a simulação passo a passo (uma cadeia aceita e uma rejeitada). Se o professor pedir uma cadeia nova, usar --pacote ou o modo interativo (opção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 (~1 min). Cada integrante diz em uma frase o que fez. Encerrar abrindo para perguntas, com o terminal no modo interativo para testar cadeias pedidas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554480"/>
            <a:ext cx="1069848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>
                <a:solidFill>
                  <a:srgbClr val="FFFFFF"/>
                </a:solidFill>
                <a:latin typeface="Segoe UI"/>
              </a:rPr>
              <a:t>Auditor Léxico de Telemetria</a:t>
            </a:r>
          </a:p>
          <a:p>
            <a:pPr algn="l">
              <a:spcAft>
                <a:spcPts val="400"/>
              </a:spcAft>
            </a:pPr>
            <a:r>
              <a:rPr sz="4000" b="0">
                <a:solidFill>
                  <a:srgbClr val="FFFFFF"/>
                </a:solidFill>
                <a:latin typeface="Segoe UI"/>
              </a:rPr>
              <a:t>de Sensores Industriais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71800"/>
            <a:ext cx="106984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D6E2F0"/>
                </a:solidFill>
                <a:latin typeface="Segoe UI"/>
              </a:rPr>
              <a:t>Um firewall léxico construído com Expressões Regulares e AFNε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D6E2F0"/>
                </a:solidFill>
                <a:latin typeface="Segoe UI"/>
              </a:rPr>
              <a:t>Linguagens Formais e Autômatos · Trabalho do 1º Bimestre · CESUPA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663440"/>
            <a:ext cx="106984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Segoe UI"/>
              </a:rPr>
              <a:t>Augusto Rodrigues  ·  Caue Jadão  ·  César Augusto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AFC3DB"/>
                </a:solidFill>
                <a:latin typeface="Segoe UI"/>
              </a:rPr>
              <a:t>github.com/cauebarroso/Auditor-de-sensores-industriais-com-express-es-regulares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Problema, solução, entradas e saídas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2/15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852160" cy="3291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B1F24"/>
                </a:solidFill>
                <a:latin typeface="Segoe UI"/>
              </a:rPr>
              <a:t>• Sensores e atuadores conversam com o supervisório (SCADA/IIoT) por pacotes de texto.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B1F24"/>
                </a:solidFill>
                <a:latin typeface="Segoe UI"/>
              </a:rPr>
              <a:t>• Um único símbolo errado vira leitura falsa ou ordem perigosa: TEMP=1O4.7C, AJUSTAR 120%, 2026-09-31.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B1F24"/>
                </a:solidFill>
                <a:latin typeface="Segoe UI"/>
              </a:rPr>
              <a:t>• Solução: um firewall léxico. O pacote só passa se pertencer à linguagem de uma das cinco ERs.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B1F24"/>
                </a:solidFill>
                <a:latin typeface="Segoe UI"/>
              </a:rPr>
              <a:t>• Pacotes bloqueados recebem a causa e a coluna exata do erro, obtida simulando o AFNε.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34840"/>
            <a:ext cx="585216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3A5F"/>
                </a:solidFill>
                <a:latin typeface="Segoe UI"/>
              </a:rPr>
              <a:t>Código em módulos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B1F24"/>
                </a:solidFill>
                <a:latin typeface="Segoe UI"/>
              </a:rPr>
              <a:t>expressoes · afn · construtor_afn · diagnostico · relatorio · auditor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B1F24"/>
                </a:solidFill>
                <a:latin typeface="Segoe UI"/>
              </a:rPr>
              <a:t>Python 3.11+, só biblioteca padrão; testes com pytest.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005840"/>
            <a:ext cx="5166360" cy="160020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3A5F"/>
                </a:solidFill>
                <a:latin typeface="Segoe UI"/>
              </a:rPr>
              <a:t>Entradas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B1F24"/>
                </a:solidFill>
                <a:latin typeface="Segoe UI"/>
              </a:rPr>
              <a:t>• Pacote digitado (modo interativo) ou --pacote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B1F24"/>
                </a:solidFill>
                <a:latin typeface="Segoe UI"/>
              </a:rPr>
              <a:t>• Arquivo .txt em lote (comentários # e linhas vazias ignorados)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743200"/>
            <a:ext cx="5166360" cy="160020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3A5F"/>
                </a:solidFill>
                <a:latin typeface="Segoe UI"/>
              </a:rPr>
              <a:t>Processamento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B1F24"/>
                </a:solidFill>
                <a:latin typeface="Segoe UI"/>
              </a:rPr>
              <a:t>• re.fullmatch nas 5 ERs (linguagens disjuntas)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B1F24"/>
                </a:solidFill>
                <a:latin typeface="Segoe UI"/>
              </a:rPr>
              <a:t>• Extrai campos dos válidos e diagnostica os inválidos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480560"/>
            <a:ext cx="5166360" cy="169164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3A5F"/>
                </a:solidFill>
                <a:latin typeface="Segoe UI"/>
              </a:rPr>
              <a:t>Saídas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B1F24"/>
                </a:solidFill>
                <a:latin typeface="Segoe UI"/>
              </a:rPr>
              <a:t>• [OK] / [ERRO] com a coluna do erro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B1F24"/>
                </a:solidFill>
                <a:latin typeface="Segoe UI"/>
              </a:rPr>
              <a:t>• Relatório de conformidade, filtros e exportação JSON/CSV/TXT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B1F24"/>
                </a:solidFill>
                <a:latin typeface="Segoe UI"/>
              </a:rPr>
              <a:t>• Entradas vazias ou inválidas: mensagem clara, sem travar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Notação formal × sintaxe no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3/15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9284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377440"/>
                <a:gridCol w="5989320"/>
              </a:tblGrid>
              <a:tr h="38404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Notação formal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No Python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Significado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 s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rs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Concatenação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 | 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r|s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União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r*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r*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Fecho de Kleene (zero ou mais)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 r*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r+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Fecho positivo (uma ou mais)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(r | ε)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r?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Opcionalidade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 r r 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r{4}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Repetição exata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 r (r | ε)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r{2,3}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Repetição limitada = rr | rrr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[0-9]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[0-9]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Classe finita: (0 | 1 | … | 9)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⎵   e   .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' '   e   \.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Espaço e ponto literais (o ponto do Python precisa de escape)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⟨NOME⟩ = 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24"/>
                          </a:solidFill>
                          <a:latin typeface="Segoe UI"/>
                        </a:rPr>
                        <a:t>Definição regular: só um nome para a subexpressão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928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573"/>
                </a:solidFill>
                <a:latin typeface="Segoe UI"/>
              </a:rPr>
              <a:t>Sempre re.fullmatch (dispensa ^ e $). Proibidos e rejeitados pelo nosso analisador: \d \w \s, ponto curinga, classes negadas, retroreferências e lookarounds.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ER-01 — ID do Dispositivo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4/15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573"/>
                </a:solidFill>
                <a:latin typeface="Segoe UI"/>
              </a:rPr>
              <a:t>Identificador de um sensor (SEN) ou atuador (ATU); bloco reutilizado nas ERs 02, 03 e 05.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6128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B1F24"/>
                </a:solidFill>
                <a:latin typeface="Segoe UI"/>
              </a:rPr>
              <a:t>L₁: SEN ou ATU, hífen, 2 ou 3 letras maiúsculas, hífen e 4 dígitos. Finita (365.040.000 cadeias).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356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3A5F"/>
                </a:solidFill>
                <a:latin typeface="Segoe UI"/>
              </a:rPr>
              <a:t>Σ₁ = {A, …, Z} ∪ {0, …, 9} ∪ {-}   (37 símbolos)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274320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3A5F"/>
                </a:solidFill>
                <a:latin typeface="Segoe UI"/>
              </a:rPr>
              <a:t>ER formal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39112"/>
            <a:ext cx="5897880" cy="41148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/>
            <a:r>
              <a:rPr sz="1200" b="0">
                <a:solidFill>
                  <a:srgbClr val="1B1F24"/>
                </a:solidFill>
                <a:latin typeface="Consolas"/>
              </a:rPr>
              <a:t>⟨ID⟩ = (SEN | ATU) - [A-Z][A-Z]([A-Z] | ε) - [0-9][0-9][0-9][0-9]</a:t>
            </a:r>
          </a:p>
          <a:p>
            <a:pPr algn="l"/>
            <a:r>
              <a:rPr sz="1200" b="0">
                <a:solidFill>
                  <a:srgbClr val="1B1F24"/>
                </a:solidFill>
                <a:latin typeface="Consolas"/>
              </a:rPr>
              <a:t>ER01 = ⟨ID⟩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23744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3A5F"/>
                </a:solidFill>
                <a:latin typeface="Segoe UI"/>
              </a:rPr>
              <a:t>No código (re.fullmatch)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79776"/>
            <a:ext cx="5897880" cy="292608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/>
            <a:r>
              <a:rPr sz="1100" b="0">
                <a:solidFill>
                  <a:srgbClr val="1B1F24"/>
                </a:solidFill>
                <a:latin typeface="Consolas"/>
              </a:rPr>
              <a:t>r"(SEN|ATU)-[A-Z]{2,3}-[0-9]{4}"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182112"/>
          <a:ext cx="589788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2103120"/>
                <a:gridCol w="155448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No código</a:t>
                      </a:r>
                    </a:p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Na ER formal</a:t>
                      </a:r>
                    </a:p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Operador</a:t>
                      </a:r>
                    </a:p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(SEN|ATU)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(SEN | ATU)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Segoe UI"/>
                        </a:rPr>
                        <a:t>União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[A-Z]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(A | B | … | Z)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Segoe UI"/>
                        </a:rPr>
                        <a:t>Classe finita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[A-Z]{2,3}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[A-Z][A-Z]([A-Z] | ε)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Segoe UI"/>
                        </a:rPr>
                        <a:t>Repetição limitada: rr | rrr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[0-9]{4}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[0-9][0-9][0-9][0-9]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Segoe UI"/>
                        </a:rPr>
                        <a:t>Repetição exata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537960" y="1783080"/>
            <a:ext cx="52120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3A5F"/>
                </a:solidFill>
                <a:latin typeface="Segoe UI"/>
              </a:rPr>
              <a:t>Testes: 6 aceitas e 6 rejeitadas (as 16 estão no relatório)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37960" y="2039112"/>
          <a:ext cx="521208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4846320"/>
              </a:tblGrid>
              <a:tr h="228600">
                <a:tc>
                  <a:txBody>
                    <a:bodyPr/>
                    <a:lstStyle/>
                    <a:p/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Cadeia (★ = caso-limite)</a:t>
                      </a:r>
                    </a:p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SEN-TM-0001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ATU-VLV-0420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SEN-ABC-1234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ATU-XY-9999 ★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SEN-XX-0000 ★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SEN-PH-0750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ε (cadeia vazia) ★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sen-tm-0001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SEN-TM-00012 ★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SEN-TM-123 ★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ATU-A-1234 ★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SEN-ABCD-1234 ★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418320" y="320040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AFNε: 19 estados · 5 ε</a:t>
            </a:r>
          </a:p>
        </p:txBody>
      </p:sp>
      <p:pic>
        <p:nvPicPr>
          <p:cNvPr id="16" name="Picture 15" descr="ER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540" y="5120640"/>
            <a:ext cx="9980159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ER-02 — Telemetria (medição física)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5/15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573"/>
                </a:solidFill>
                <a:latin typeface="Segoe UI"/>
              </a:rPr>
              <a:t>Leitura de um sensor: temperatura (C), umidade (%) ou pressão (hPa), dentro da faixa.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6128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B1F24"/>
                </a:solidFill>
                <a:latin typeface="Segoe UI"/>
              </a:rPr>
              <a:t>L₂: ID de sensor, ':' e uma medição: TEMP de −199.9 a 199.9 C, UMID de 0 a 100% ou PRES de 850 a 1099 hPa. Finita.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356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3A5F"/>
                </a:solidFill>
                <a:latin typeface="Segoe UI"/>
              </a:rPr>
              <a:t>Σ₂ = {A, …, Z} ∪ {0, …, 9} ∪ {-, :, =, ., %, h, a}   (43 símbolos)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274320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3A5F"/>
                </a:solidFill>
                <a:latin typeface="Segoe UI"/>
              </a:rPr>
              <a:t>ER formal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39112"/>
            <a:ext cx="5897880" cy="128016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/>
            <a:r>
              <a:rPr sz="1200" b="0">
                <a:solidFill>
                  <a:srgbClr val="1B1F24"/>
                </a:solidFill>
                <a:latin typeface="Consolas"/>
              </a:rPr>
              <a:t>⟨SID⟩ = SEN - [A-Z][A-Z]([A-Z] | ε) - [0-9][0-9][0-9][0-9]</a:t>
            </a:r>
          </a:p>
          <a:p>
            <a:pPr algn="l"/>
            <a:r>
              <a:rPr sz="1200" b="0">
                <a:solidFill>
                  <a:srgbClr val="1B1F24"/>
                </a:solidFill>
                <a:latin typeface="Consolas"/>
              </a:rPr>
              <a:t>⟨DEC⟩ = . [0-9] | ε</a:t>
            </a:r>
          </a:p>
          <a:p>
            <a:pPr algn="l"/>
            <a:r>
              <a:rPr sz="1200" b="0">
                <a:solidFill>
                  <a:srgbClr val="1B1F24"/>
                </a:solidFill>
                <a:latin typeface="Consolas"/>
              </a:rPr>
              <a:t>⟨TEMP⟩ = TEMP= (- | ε) (1[0-9][0-9] | ([1-9] | ε) [0-9]) ⟨DEC⟩ C</a:t>
            </a:r>
          </a:p>
          <a:p>
            <a:pPr algn="l"/>
            <a:r>
              <a:rPr sz="1200" b="0">
                <a:solidFill>
                  <a:srgbClr val="1B1F24"/>
                </a:solidFill>
                <a:latin typeface="Consolas"/>
              </a:rPr>
              <a:t>⟨UMID⟩ = UMID= (100 (.0 | ε) | ([1-9] | ε) [0-9] ⟨DEC⟩) %</a:t>
            </a:r>
          </a:p>
          <a:p>
            <a:pPr algn="l"/>
            <a:r>
              <a:rPr sz="1200" b="0">
                <a:solidFill>
                  <a:srgbClr val="1B1F24"/>
                </a:solidFill>
                <a:latin typeface="Consolas"/>
              </a:rPr>
              <a:t>⟨PRES⟩ = PRES= (8[5-9][0-9] | 9[0-9][0-9] | 10[0-9][0-9]) hPa</a:t>
            </a:r>
          </a:p>
          <a:p>
            <a:pPr algn="l"/>
            <a:r>
              <a:rPr sz="1200" b="0">
                <a:solidFill>
                  <a:srgbClr val="1B1F24"/>
                </a:solidFill>
                <a:latin typeface="Consolas"/>
              </a:rPr>
              <a:t>ER02 = ⟨SID⟩ : (⟨TEMP⟩ | ⟨UMID⟩ | ⟨PRES⟩)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92424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3A5F"/>
                </a:solidFill>
                <a:latin typeface="Segoe UI"/>
              </a:rPr>
              <a:t>No código (re.fullmatch)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648456"/>
            <a:ext cx="5897880" cy="68580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/>
            <a:r>
              <a:rPr sz="1100" b="0">
                <a:solidFill>
                  <a:srgbClr val="1B1F24"/>
                </a:solidFill>
                <a:latin typeface="Consolas"/>
              </a:rPr>
              <a:t>r"SEN-[A-Z]{2,3}-[0-9]{4}:(TEMP=-?(1[0-9][0-9]|[1-9]?[0-9])(\.[0-9])?C|UMID=(100(\.0)?|[1-9]?[0-9](\.[0-9])?)%|PRES=(8[5-9][0-9]|9[0-9][0-9]|10[0-9][0-9])hPa)"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443984"/>
          <a:ext cx="589788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2103120"/>
                <a:gridCol w="155448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No código</a:t>
                      </a:r>
                    </a:p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Na ER formal</a:t>
                      </a:r>
                    </a:p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Operador</a:t>
                      </a:r>
                    </a:p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-?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(- | ε)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Segoe UI"/>
                        </a:rPr>
                        <a:t>Opcionalidade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[1-9]?[0-9]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([1-9] | ε)[0-9]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Segoe UI"/>
                        </a:rPr>
                        <a:t>0 a 99 sem zero à esquerda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(\.[0-9])?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.[0-9] | ε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Segoe UI"/>
                        </a:rPr>
                        <a:t>Escape do ponto + opcional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(TEMP=…|UMID=…|PRES=…)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⟨TEMP⟩ | ⟨UMID⟩ | ⟨PRES⟩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Segoe UI"/>
                        </a:rPr>
                        <a:t>União de três ramos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537960" y="1783080"/>
            <a:ext cx="52120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3A5F"/>
                </a:solidFill>
                <a:latin typeface="Segoe UI"/>
              </a:rPr>
              <a:t>Testes: 6 aceitas e 6 rejeitadas (as 16 estão no relatório)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37960" y="2039112"/>
          <a:ext cx="5212080" cy="3447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4846320"/>
              </a:tblGrid>
              <a:tr h="265176">
                <a:tc>
                  <a:txBody>
                    <a:bodyPr/>
                    <a:lstStyle/>
                    <a:p/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Cadeia (★ = caso-limite)</a:t>
                      </a:r>
                    </a:p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SEN-TM-0001:TEMP=25.5C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SEN-TM-0001:TEMP=-10C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SEN-TMP-0002:TEMP=-199.9C ★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SEN-TM-0002:TEMP=199.9C ★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SEN-AB-1234:UMID=100.0% ★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SEN-AB-1234:UMID=0% ★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SEN-TM-0001:TEMP=200C ★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SEN-TM-0001:UMID=100.5% ★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SEN-TM-0001:PRES=849hPa ★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SEN-TM-0001:PRES=1100hPa ★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SEN-TM-0001:TEMP=25.55C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SEN-TM-0001:TEMP=025C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418320" y="320040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AFNε: 75 estados · 27 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ER-02 — AFNε: o ID do sensor e a união das três medições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6/15</a:t>
            </a:r>
          </a:p>
        </p:txBody>
      </p:sp>
      <p:pic>
        <p:nvPicPr>
          <p:cNvPr id="5" name="Picture 4" descr="ER-02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7990"/>
            <a:ext cx="11247120" cy="1172978"/>
          </a:xfrm>
          <a:prstGeom prst="rect">
            <a:avLst/>
          </a:prstGeom>
        </p:spPr>
      </p:pic>
      <p:pic>
        <p:nvPicPr>
          <p:cNvPr id="6" name="Picture 5" descr="ER-02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10894"/>
            <a:ext cx="11247120" cy="37278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ER-03 — Comando de Controle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7/15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573"/>
                </a:solidFill>
                <a:latin typeface="Segoe UI"/>
              </a:rPr>
              <a:t>Ordem para um atuador: ligar, desligar, abrir, fechar ou ajustar de 0 a 100%.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6128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B1F24"/>
                </a:solidFill>
                <a:latin typeface="Segoe UI"/>
              </a:rPr>
              <a:t>L₃: 'CMD', ID de atuador e uma ação: LIGAR, DESLIGAR, ABRIR, FECHAR ou AJUSTAR de 0 a 100%. Finita.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356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3A5F"/>
                </a:solidFill>
                <a:latin typeface="Segoe UI"/>
              </a:rPr>
              <a:t>Σ₃ = {A, …, Z} ∪ {0, …, 9} ∪ {-, ⎵, %}   (39 símbolos)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274320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3A5F"/>
                </a:solidFill>
                <a:latin typeface="Segoe UI"/>
              </a:rPr>
              <a:t>ER formal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39112"/>
            <a:ext cx="5897880" cy="86868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/>
            <a:r>
              <a:rPr sz="1200" b="0">
                <a:solidFill>
                  <a:srgbClr val="1B1F24"/>
                </a:solidFill>
                <a:latin typeface="Consolas"/>
              </a:rPr>
              <a:t>⟨AID⟩ = ATU - [A-Z][A-Z]([A-Z] | ε) - [0-9][0-9][0-9][0-9]</a:t>
            </a:r>
          </a:p>
          <a:p>
            <a:pPr algn="l"/>
            <a:r>
              <a:rPr sz="1200" b="0">
                <a:solidFill>
                  <a:srgbClr val="1B1F24"/>
                </a:solidFill>
                <a:latin typeface="Consolas"/>
              </a:rPr>
              <a:t>⟨PCT⟩ = 100 | ([1-9] | ε) [0-9]</a:t>
            </a:r>
          </a:p>
          <a:p>
            <a:pPr algn="l"/>
            <a:r>
              <a:rPr sz="1200" b="0">
                <a:solidFill>
                  <a:srgbClr val="1B1F24"/>
                </a:solidFill>
                <a:latin typeface="Consolas"/>
              </a:rPr>
              <a:t>ER03 = CMD ⎵ ⟨AID⟩ ⎵ (LIGAR | DESLIGAR | ABRIR | FECHAR | AJUSTAR ⎵ ⟨PCT⟩ 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80944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3A5F"/>
                </a:solidFill>
                <a:latin typeface="Segoe UI"/>
              </a:rPr>
              <a:t>No código (re.fullmatch)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36976"/>
            <a:ext cx="5897880" cy="50292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/>
            <a:r>
              <a:rPr sz="1100" b="0">
                <a:solidFill>
                  <a:srgbClr val="1B1F24"/>
                </a:solidFill>
                <a:latin typeface="Consolas"/>
              </a:rPr>
              <a:t>r"CMD ATU-[A-Z]{2,3}-[0-9]{4} (LIGAR|DESLIGAR|ABRIR|FECHAR|AJUSTAR (100|[1-9]?[0-9])%)"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849624"/>
          <a:ext cx="589788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2103120"/>
                <a:gridCol w="155448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No código</a:t>
                      </a:r>
                    </a:p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Na ER formal</a:t>
                      </a:r>
                    </a:p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Operador</a:t>
                      </a:r>
                    </a:p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 (espaço)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⎵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Segoe UI"/>
                        </a:rPr>
                        <a:t>Símbolo de Σ₃ (não usamos \s)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(LIGAR|…|AJUSTAR …)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LIGAR | … | AJUSTAR ⎵ ⟨PCT⟩ %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Segoe UI"/>
                        </a:rPr>
                        <a:t>União de cinco ações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(100|[1-9]?[0-9])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100 | ([1-9] | ε)[0-9]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Segoe UI"/>
                        </a:rPr>
                        <a:t>União: 0 a 100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{2,3}  {4}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rr(r | ε)  rrrr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Segoe UI"/>
                        </a:rPr>
                        <a:t>Repetições do ID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537960" y="1783080"/>
            <a:ext cx="52120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3A5F"/>
                </a:solidFill>
                <a:latin typeface="Segoe UI"/>
              </a:rPr>
              <a:t>Testes: 6 aceitas e 6 rejeitadas (as 16 estão no relatório)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37960" y="2039112"/>
          <a:ext cx="5212080" cy="3447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4846320"/>
              </a:tblGrid>
              <a:tr h="265176">
                <a:tc>
                  <a:txBody>
                    <a:bodyPr/>
                    <a:lstStyle/>
                    <a:p/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Cadeia (★ = caso-limite)</a:t>
                      </a:r>
                    </a:p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CMD ATU-VLV-0420 LIGAR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CMD ATU-VLV-0420 DESLIGAR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CMD ATU-XX-1234 ABRIR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CMD ATU-XX-1234 FECHAR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CMD ATU-YY-9999 AJUSTAR 100% ★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CMD ATU-YY-9999 AJUSTAR 0% ★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CMD ATU-VLV-0420 AJUSTAR 101% ★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CMD SEN-VLV-0420 LIGAR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CMD ATU-VLV-0420 PAUSAR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CMD ATU-VLV-0420 AJUSTAR %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CMD ATU-VLV-0420 LIGAR⎵ ★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CMD ATU-VLV-0420 AJUSTAR 050%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418320" y="320040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AFNε: 65 estados · 16 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ER-03 — AFNε: o ID do atuador e as cinco 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8/15</a:t>
            </a:r>
          </a:p>
        </p:txBody>
      </p:sp>
      <p:pic>
        <p:nvPicPr>
          <p:cNvPr id="5" name="Picture 4" descr="ER-03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22736"/>
            <a:ext cx="11247120" cy="1246366"/>
          </a:xfrm>
          <a:prstGeom prst="rect">
            <a:avLst/>
          </a:prstGeom>
        </p:spPr>
      </p:pic>
      <p:pic>
        <p:nvPicPr>
          <p:cNvPr id="6" name="Picture 5" descr="ER-03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82636"/>
            <a:ext cx="11247120" cy="225868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ER-04 — Rota de Rede IPv4/CIDR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9/15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573"/>
                </a:solidFill>
                <a:latin typeface="Segoe UI"/>
              </a:rPr>
              <a:t>Endereço IPv4 com octetos de 0 a 255, sem zero à esquerda, e máscara CIDR opcional.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6128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B1F24"/>
                </a:solidFill>
                <a:latin typeface="Segoe UI"/>
              </a:rPr>
              <a:t>L₄: quatro octetos de 0 a 255 sem zero à esquerda e máscara opcional de /0 a /32. Finita.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356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3A5F"/>
                </a:solidFill>
                <a:latin typeface="Segoe UI"/>
              </a:rPr>
              <a:t>Σ₄ = {0, …, 9} ∪ {., /}   (12 símbolos)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274320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3A5F"/>
                </a:solidFill>
                <a:latin typeface="Segoe UI"/>
              </a:rPr>
              <a:t>ER formal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39112"/>
            <a:ext cx="5897880" cy="73152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/>
            <a:r>
              <a:rPr sz="1200" b="0">
                <a:solidFill>
                  <a:srgbClr val="1B1F24"/>
                </a:solidFill>
                <a:latin typeface="Consolas"/>
              </a:rPr>
              <a:t>⟨OCT⟩ = 25[0-5] | 2[0-4][0-9] | 1[0-9][0-9] | ([1-9] | ε) [0-9]</a:t>
            </a:r>
          </a:p>
          <a:p>
            <a:pPr algn="l"/>
            <a:r>
              <a:rPr sz="1200" b="0">
                <a:solidFill>
                  <a:srgbClr val="1B1F24"/>
                </a:solidFill>
                <a:latin typeface="Consolas"/>
              </a:rPr>
              <a:t>⟨MASC⟩ = 3[0-2] | ([12] | ε) [0-9]</a:t>
            </a:r>
          </a:p>
          <a:p>
            <a:pPr algn="l"/>
            <a:r>
              <a:rPr sz="1200" b="0">
                <a:solidFill>
                  <a:srgbClr val="1B1F24"/>
                </a:solidFill>
                <a:latin typeface="Consolas"/>
              </a:rPr>
              <a:t>ER04 = ⟨OCT⟩ . ⟨OCT⟩ . ⟨OCT⟩ . ⟨OCT⟩ (/ ⟨MASC⟩ | ε)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43784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3A5F"/>
                </a:solidFill>
                <a:latin typeface="Segoe UI"/>
              </a:rPr>
              <a:t>No código (re.fullmatch)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99816"/>
            <a:ext cx="5897880" cy="50292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/>
            <a:r>
              <a:rPr sz="1100" b="0">
                <a:solidFill>
                  <a:srgbClr val="1B1F24"/>
                </a:solidFill>
                <a:latin typeface="Consolas"/>
              </a:rPr>
              <a:t>r"((25[0-5]|2[0-4][0-9]|1[0-9][0-9]|[1-9]?[0-9])\.){3}(25[0-5]|2[0-4][0-9]|1[0-9][0-9]|[1-9]?[0-9])(/(3[0-2]|[12]?[0-9]))?"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712464"/>
          <a:ext cx="589788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2103120"/>
                <a:gridCol w="155448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No código</a:t>
                      </a:r>
                    </a:p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Na ER formal</a:t>
                      </a:r>
                    </a:p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Operador</a:t>
                      </a:r>
                    </a:p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25[0-5]|2[0-4][0-9]|1[0-9][0-9]|[1-9]?[0-9]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⟨OCT⟩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Segoe UI"/>
                        </a:rPr>
                        <a:t>União de 4 faixas disjuntas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(…\.){3}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⟨OCT⟩.⟨OCT⟩.⟨OCT⟩.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Segoe UI"/>
                        </a:rPr>
                        <a:t>Repetição exata de grupo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\.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.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Segoe UI"/>
                        </a:rPr>
                        <a:t>Escape: ponto literal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(/(3[0-2]|[12]?[0-9]))?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(/⟨MASC⟩ | ε)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Segoe UI"/>
                        </a:rPr>
                        <a:t>Máscara opcional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537960" y="1783080"/>
            <a:ext cx="52120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3A5F"/>
                </a:solidFill>
                <a:latin typeface="Segoe UI"/>
              </a:rPr>
              <a:t>Testes: 6 aceitas e 6 rejeitadas (as 16 estão no relatório)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37960" y="2039112"/>
          <a:ext cx="5212080" cy="3447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4846320"/>
              </a:tblGrid>
              <a:tr h="265176">
                <a:tc>
                  <a:txBody>
                    <a:bodyPr/>
                    <a:lstStyle/>
                    <a:p/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Cadeia (★ = caso-limite)</a:t>
                      </a:r>
                    </a:p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192.168.0.1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10.0.0.1/8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255.255.255.255 ★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0.0.0.0 ★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172.16.254.1/32 ★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0.0.0.0/0 ★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256.0.0.1 ★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192.168.0.1/33 ★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192.168.0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1.2.3.4.5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192.168.01.1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Consolas"/>
                        </a:rPr>
                        <a:t>192.168.0.1/08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418320" y="320040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AFNε: 76 estados · 42 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ER-04 — AFNε: quatro octetos e a máscara opcional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10/15</a:t>
            </a:r>
          </a:p>
        </p:txBody>
      </p:sp>
      <p:pic>
        <p:nvPicPr>
          <p:cNvPr id="5" name="Picture 4" descr="ER-04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2461" y="914400"/>
            <a:ext cx="7176596" cy="1828800"/>
          </a:xfrm>
          <a:prstGeom prst="rect">
            <a:avLst/>
          </a:prstGeom>
        </p:spPr>
      </p:pic>
      <p:pic>
        <p:nvPicPr>
          <p:cNvPr id="6" name="Picture 5" descr="ER-04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481" y="2788920"/>
            <a:ext cx="7588557" cy="1828800"/>
          </a:xfrm>
          <a:prstGeom prst="rect">
            <a:avLst/>
          </a:prstGeom>
        </p:spPr>
      </p:pic>
      <p:pic>
        <p:nvPicPr>
          <p:cNvPr id="7" name="Picture 6" descr="ER-04_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2946" y="4663440"/>
            <a:ext cx="4135626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ER-05 — Alerta de Log (severidade)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11/15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573"/>
                </a:solidFill>
                <a:latin typeface="Segoe UI"/>
              </a:rPr>
              <a:t>Registro de evento: data válida, hora, severidade, dispositivo e mensagem.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6128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B1F24"/>
                </a:solidFill>
                <a:latin typeface="Segoe UI"/>
              </a:rPr>
              <a:t>L₅: data com dia válido para o mês, hora, severidade, ID e mensagem de palavras separadas por um espaço. Infinita.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356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3A5F"/>
                </a:solidFill>
                <a:latin typeface="Segoe UI"/>
              </a:rPr>
              <a:t>Σ₅ = {A, …, Z} ∪ {a, …, z} ∪ {0, …, 9} ∪ {-, :, ⎵, _, .}   (67 símbolos)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274320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3A5F"/>
                </a:solidFill>
                <a:latin typeface="Segoe UI"/>
              </a:rPr>
              <a:t>ER formal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39112"/>
            <a:ext cx="5897880" cy="169164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/>
            <a:r>
              <a:rPr sz="1100" b="0">
                <a:solidFill>
                  <a:srgbClr val="1B1F24"/>
                </a:solidFill>
                <a:latin typeface="Consolas"/>
              </a:rPr>
              <a:t>⟨DATA⟩ = [0-9][0-9][0-9][0-9] - ((0[1-9] | 1[0-2]) - (0[1-9] | [12][0-9]) | (0[13-9] | 1[0-2]) - 30 | (0[13578] | 1[02]) - 31)</a:t>
            </a:r>
          </a:p>
          <a:p>
            <a:pPr algn="l"/>
            <a:r>
              <a:rPr sz="1100" b="0">
                <a:solidFill>
                  <a:srgbClr val="1B1F24"/>
                </a:solidFill>
                <a:latin typeface="Consolas"/>
              </a:rPr>
              <a:t>⟨HORA⟩ = ([01][0-9] | 2[0-3]) : [0-5][0-9] : [0-5][0-9]</a:t>
            </a:r>
          </a:p>
          <a:p>
            <a:pPr algn="l"/>
            <a:r>
              <a:rPr sz="1100" b="0">
                <a:solidFill>
                  <a:srgbClr val="1B1F24"/>
                </a:solidFill>
                <a:latin typeface="Consolas"/>
              </a:rPr>
              <a:t>⟨SEV⟩ = INFO | WARN | ERROR | CRIT</a:t>
            </a:r>
          </a:p>
          <a:p>
            <a:pPr algn="l"/>
            <a:r>
              <a:rPr sz="1100" b="0">
                <a:solidFill>
                  <a:srgbClr val="1B1F24"/>
                </a:solidFill>
                <a:latin typeface="Consolas"/>
              </a:rPr>
              <a:t>⟨ID⟩ = (SEN | ATU) - [A-Z][A-Z]([A-Z] | ε) - [0-9][0-9][0-9][0-9]</a:t>
            </a:r>
          </a:p>
          <a:p>
            <a:pPr algn="l"/>
            <a:r>
              <a:rPr sz="1100" b="0">
                <a:solidFill>
                  <a:srgbClr val="1B1F24"/>
                </a:solidFill>
                <a:latin typeface="Consolas"/>
              </a:rPr>
              <a:t>⟨PAL⟩ = [A-Za-z0-9_.-] [A-Za-z0-9_.-]*</a:t>
            </a:r>
          </a:p>
          <a:p>
            <a:pPr algn="l"/>
            <a:r>
              <a:rPr sz="1100" b="0">
                <a:solidFill>
                  <a:srgbClr val="1B1F24"/>
                </a:solidFill>
                <a:latin typeface="Consolas"/>
              </a:rPr>
              <a:t>⟨MSG⟩ = ⟨PAL⟩ (⎵ ⟨PAL⟩)*</a:t>
            </a:r>
          </a:p>
          <a:p>
            <a:pPr algn="l"/>
            <a:r>
              <a:rPr sz="1100" b="0">
                <a:solidFill>
                  <a:srgbClr val="1B1F24"/>
                </a:solidFill>
                <a:latin typeface="Consolas"/>
              </a:rPr>
              <a:t>ER05 = ⟨DATA⟩ T ⟨HORA⟩ ⎵ ⟨SEV⟩ ⎵ ⟨ID⟩ : ⎵ ⟨MSG⟩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03904"/>
            <a:ext cx="320040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3A5F"/>
                </a:solidFill>
                <a:latin typeface="Segoe UI"/>
              </a:rPr>
              <a:t>No código (re.fullmatch)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59936"/>
            <a:ext cx="5897880" cy="77724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/>
            <a:r>
              <a:rPr sz="1000" b="0">
                <a:solidFill>
                  <a:srgbClr val="1B1F24"/>
                </a:solidFill>
                <a:latin typeface="Consolas"/>
              </a:rPr>
              <a:t>r"[0-9]{4}-((0[1-9]|1[0-2])-(0[1-9]|[12][0-9])|(0[13-9]|1[0-2])-30|(0[13578]|1[02])-31)T([01][0-9]|2[0-3]):[0-5][0-9]:[0-5][0-9] (INFO|WARN|ERROR|CRIT) (SEN|ATU)-[A-Z]{2,3}-[0-9]{4}: [A-Za-z0-9_.-]+( [A-Za-z0-9_.-]+)*"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946904"/>
          <a:ext cx="589788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2103120"/>
                <a:gridCol w="155448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No código</a:t>
                      </a:r>
                    </a:p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Na ER formal</a:t>
                      </a:r>
                    </a:p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Operador</a:t>
                      </a:r>
                    </a:p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(…-(0[1-9]|[12][0-9])|…-30|…-31)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três casos em ⟨DATA⟩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Segoe UI"/>
                        </a:rPr>
                        <a:t>União: dia válido por mês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(INFO|WARN|ERROR|CRIT)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⟨SEV⟩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Segoe UI"/>
                        </a:rPr>
                        <a:t>União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[A-Za-z0-9_.-]+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⟨PAL⟩ = c c*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Segoe UI"/>
                        </a:rPr>
                        <a:t>Fecho positivo: r+ = rr*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( [A-Za-z0-9_.-]+)*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Consolas"/>
                        </a:rPr>
                        <a:t>(⎵ ⟨PAL⟩)*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24"/>
                          </a:solidFill>
                          <a:latin typeface="Segoe UI"/>
                        </a:rPr>
                        <a:t>Fecho de Kleene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537960" y="1783080"/>
            <a:ext cx="52120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3A5F"/>
                </a:solidFill>
                <a:latin typeface="Segoe UI"/>
              </a:rPr>
              <a:t>Testes: 6 aceitas e 6 rejeitadas (as 16 estão no relatório)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37960" y="2039112"/>
          <a:ext cx="5212080" cy="3447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4846320"/>
              </a:tblGrid>
              <a:tr h="265176">
                <a:tc>
                  <a:txBody>
                    <a:bodyPr/>
                    <a:lstStyle/>
                    <a:p/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Cadeia (★ = caso-limite)</a:t>
                      </a:r>
                    </a:p>
                  </a:txBody>
                  <a:tcPr marL="73152" marR="73152" marT="9144" marB="9144" anchor="ctr">
                    <a:solidFill>
                      <a:srgbClr val="1F3A5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B1F24"/>
                          </a:solidFill>
                          <a:latin typeface="Consolas"/>
                        </a:rPr>
                        <a:t>2026-09-30T08:15:00 INFO SEN-TM-0001: leitura normal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B1F24"/>
                          </a:solidFill>
                          <a:latin typeface="Consolas"/>
                        </a:rPr>
                        <a:t>2026-12-31T23:59:59 CRIT ATU-XX-9999: falha critica no motor ★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B1F24"/>
                          </a:solidFill>
                          <a:latin typeface="Consolas"/>
                        </a:rPr>
                        <a:t>2026-01-01T00:00:00 WARN SEN-AB-1234: bateria fraca ★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B1F24"/>
                          </a:solidFill>
                          <a:latin typeface="Consolas"/>
                        </a:rPr>
                        <a:t>2026-02-28T12:30:45 ERROR ATU-VLV-0420: travamento_123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B1F24"/>
                          </a:solidFill>
                          <a:latin typeface="Consolas"/>
                        </a:rPr>
                        <a:t>2028-02-29T06:00:00 INFO SEN-TM-0001: ok ★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B1F24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B1F24"/>
                          </a:solidFill>
                          <a:latin typeface="Consolas"/>
                        </a:rPr>
                        <a:t>2026-04-30T10:00:00 WARN ATU-VLV-0420: valvula 80.5 aberta ★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B1F24"/>
                          </a:solidFill>
                          <a:latin typeface="Consolas"/>
                        </a:rPr>
                        <a:t>2026-13-01T10:00:00 INFO SEN-TM-0001: ok ★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B1F24"/>
                          </a:solidFill>
                          <a:latin typeface="Consolas"/>
                        </a:rPr>
                        <a:t>2026-02-30T10:00:00 INFO SEN-TM-0001: ok ★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B1F24"/>
                          </a:solidFill>
                          <a:latin typeface="Consolas"/>
                        </a:rPr>
                        <a:t>2026-04-31T10:00:00 INFO SEN-TM-0001: ok ★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B1F24"/>
                          </a:solidFill>
                          <a:latin typeface="Consolas"/>
                        </a:rPr>
                        <a:t>2026-09-30T24:00:00 INFO SEN-TM-0001: ok ★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B1F24"/>
                          </a:solidFill>
                          <a:latin typeface="Consolas"/>
                        </a:rPr>
                        <a:t>2026-09-30T08:15:00 DEBUG SEN-TM-0001: ok</a:t>
                      </a:r>
                    </a:p>
                  </a:txBody>
                  <a:tcPr marL="73152" marR="73152" marT="9144" marB="9144" anchor="ctr">
                    <a:solidFill>
                      <a:srgbClr val="F7F9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B1F24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B1F24"/>
                          </a:solidFill>
                          <a:latin typeface="Consolas"/>
                        </a:rPr>
                        <a:t>2026-09-30T08:15:00 INFO SEN-TM-0001:⎵ ★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418320" y="320040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AFNε: 114 estados · 51 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ER-05 — AFNε: a data e a mensagem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12/15</a:t>
            </a:r>
          </a:p>
        </p:txBody>
      </p:sp>
      <p:pic>
        <p:nvPicPr>
          <p:cNvPr id="5" name="Picture 4" descr="ER-05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09" y="868679"/>
            <a:ext cx="10726300" cy="2697480"/>
          </a:xfrm>
          <a:prstGeom prst="rect">
            <a:avLst/>
          </a:prstGeom>
        </p:spPr>
      </p:pic>
      <p:pic>
        <p:nvPicPr>
          <p:cNvPr id="6" name="Picture 5" descr="ER-05_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51" y="3611880"/>
            <a:ext cx="10477216" cy="2240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97880"/>
            <a:ext cx="112928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573"/>
                </a:solidFill>
                <a:latin typeface="Segoe UI"/>
              </a:rPr>
              <a:t>Parte 1: dia válido para cada mês (união de 3 casos). Parte 4: fecho de Kleene — laço interno de ⟨PAL⟩ (q104 ↔ q106) e externo (⎵⟨PAL⟩)* (q112 → q107), por isso L₅ é infinita. As partes 2 e 3 (hora, severidade e ID) estão no relatório.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Mesma linguagem em todas as representações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13/15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852160" cy="5212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Segoe UI"/>
              </a:rPr>
              <a:t>1. Código → AFNε (construção de Thompson)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B1F24"/>
                </a:solidFill>
                <a:latin typeface="Segoe UI"/>
              </a:rPr>
              <a:t>O AFNε é construído a partir do padrão exato do código e exportado para o JFLAP.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F3A5F"/>
                </a:solidFill>
                <a:latin typeface="Segoe UI"/>
              </a:rPr>
              <a:t>2. ER formal ≡ código: prova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B1F24"/>
                </a:solidFill>
                <a:latin typeface="Segoe UI"/>
              </a:rPr>
              <a:t>Busca em largura sobre o produto dos dois AFNε (construção de subconjuntos): nenhuma cadeia distingue as linguagens.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F3A5F"/>
                </a:solidFill>
                <a:latin typeface="Segoe UI"/>
              </a:rPr>
              <a:t>3. Arquivo .jff ≡ código: prova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B1F24"/>
                </a:solidFill>
                <a:latin typeface="Segoe UI"/>
              </a:rPr>
              <a:t>O .jff é lido de volta e comparado pelo mesmo algoritmo.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F3A5F"/>
                </a:solidFill>
                <a:latin typeface="Segoe UI"/>
              </a:rPr>
              <a:t>4. Executado no próprio JFLAP 7.1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B1F24"/>
                </a:solidFill>
                <a:latin typeface="Segoe UI"/>
              </a:rPr>
              <a:t>Cada .jff rodou no motor do JFLAP com as 16 cadeias da sua 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0" y="1097280"/>
          <a:ext cx="516636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37744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Verificação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Resultado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Segoe UI"/>
                        </a:rPr>
                        <a:t>python -m pytest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Segoe UI"/>
                        </a:rPr>
                        <a:t>319 testes ✔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Segoe UI"/>
                        </a:rPr>
                        <a:t>ER formal ≡ código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Segoe UI"/>
                        </a:rPr>
                        <a:t>5/5 provadas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Segoe UI"/>
                        </a:rPr>
                        <a:t>.jff ≡ código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Segoe UI"/>
                        </a:rPr>
                        <a:t>5/5 provadas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Segoe UI"/>
                        </a:rPr>
                        <a:t>JFLAP 7.1 (16 cadeias por ER)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Segoe UI"/>
                        </a:rPr>
                        <a:t>80/80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Segoe UI"/>
                        </a:rPr>
                        <a:t>AFNε × re, cadeias aleatórias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Segoe UI"/>
                        </a:rPr>
                        <a:t>10.000, 0 divergências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Segoe UI"/>
                        </a:rPr>
                        <a:t>Linguagens disjuntas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Segoe UI"/>
                        </a:rPr>
                        <a:t>interseções vazias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Segoe UI"/>
                        </a:rPr>
                        <a:t>Dados de exemplo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Segoe UI"/>
                        </a:rPr>
                        <a:t>20 íntegros, 14 corrompidos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0" y="4343400"/>
            <a:ext cx="5166360" cy="96012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573"/>
                </a:solidFill>
                <a:latin typeface="Segoe UI"/>
              </a:rPr>
              <a:t>Achados no JFLAP 7.1: rótulos com '[' viram intervalo (por isso INFO, não [INFO]) e, após um rótulo de intervalo como [A-Z], o simulador não aplica o fecho-ε (por isso uma transição por símbolo).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14/15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92840" cy="1325880"/>
          </a:xfrm>
          <a:prstGeom prst="rect">
            <a:avLst/>
          </a:prstGeom>
          <a:solidFill>
            <a:srgbClr val="EEF3F9"/>
          </a:solidFill>
        </p:spPr>
        <p:txBody>
          <a:bodyPr wrap="square" anchor="t" lIns="109728" rIns="109728" tIns="73152" bIns="73152">
            <a:spAutoFit/>
          </a:bodyPr>
          <a:lstStyle/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python src/auditor.py dados/turno_caldeira.txt          # lote + relatório + filtros</a:t>
            </a:r>
          </a:p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python src/auditor.py --pacote "CMD ATU-VLV-0201 AJUSTAR 120%"</a:t>
            </a:r>
          </a:p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python src/auditor.py --explicar "ATU-VLV-0420"            # simulação do AFNε</a:t>
            </a:r>
          </a:p>
          <a:p>
            <a:pPr algn="l"/>
            <a:r>
              <a:rPr sz="1400" b="0">
                <a:solidFill>
                  <a:srgbClr val="1B1F24"/>
                </a:solidFill>
                <a:latin typeface="Consolas"/>
              </a:rPr>
              <a:t>JFLAP: automatos/jflap/ER-03.jff → Input › Multiple Run → Load Inputs (entradas/ER-03.txt)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14600"/>
            <a:ext cx="11292840" cy="3840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  [ERRO] ER-03 Comando de Controle: valor de ajuste 120% acima de 100%; o intervalo aceito é 0 a 100%.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         CMD ATU-VLV-0201 AJUSTAR 120%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                                    ^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         Onde: coluna 28: símbolo '0' inesperado; esperado '%'</a:t>
            </a:r>
          </a:p>
          <a:p>
            <a:pPr algn="l"/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  passo   lido   conjunto de estados ativos (após o fecho-ε)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      0    —     {q0, q1, q2}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      1   'A'    {q4}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      2   'T'    {q6}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      ⋮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     12   '0'    {q18}</a:t>
            </a:r>
          </a:p>
          <a:p>
            <a:pPr algn="l"/>
            <a:r>
              <a:rPr sz="1300" b="0">
                <a:solidFill>
                  <a:srgbClr val="1B1F24"/>
                </a:solidFill>
                <a:latin typeface="Consolas"/>
              </a:rPr>
              <a:t>Resultado: ACEITA — o último conjunto contém o estado final (q18).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91440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Segoe UI"/>
              </a:rPr>
              <a:t>Limitações, contribuições e uso de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573"/>
                </a:solidFill>
                <a:latin typeface="Segoe UI"/>
              </a:rPr>
              <a:t>15/15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57784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Segoe UI"/>
              </a:rPr>
              <a:t>Limitações (falsos resultados)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B1F24"/>
                </a:solidFill>
                <a:latin typeface="Segoe UI"/>
              </a:rPr>
              <a:t>• Validação léxica: um ID bem formado passa mesmo se o dispositivo não existir.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B1F24"/>
                </a:solidFill>
                <a:latin typeface="Segoe UI"/>
              </a:rPr>
              <a:t>• −0C é aceito; uma leitura real acima de 199.9 °C é bloqueada; 29/02 vale em qualquer ano.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960120"/>
            <a:ext cx="548640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Segoe UI"/>
              </a:rPr>
              <a:t>Melhorias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B1F24"/>
                </a:solidFill>
                <a:latin typeface="Segoe UI"/>
              </a:rPr>
              <a:t>• Ano bissexto (também é regular, mas o AFNε cresceria muito).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B1F24"/>
                </a:solidFill>
                <a:latin typeface="Segoe UI"/>
              </a:rPr>
              <a:t>• Faixas configuráveis por sensor; leitura contínua de porta serial.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743200"/>
          <a:ext cx="112928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54964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Integrante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Contribuições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Segoe UI"/>
                        </a:rPr>
                        <a:t>Augusto Rodrigues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Segoe UI"/>
                        </a:rPr>
                        <a:t>ER-01 e ER-02 (fichas, AFNε, testes); diagnóstico de falhas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Segoe UI"/>
                        </a:rPr>
                        <a:t>Caue Jadão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Segoe UI"/>
                        </a:rPr>
                        <a:t>ER-03 e ER-04; revisão geral, verificação de equivalência, relatório e repositório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Segoe UI"/>
                        </a:rPr>
                        <a:t>César Augusto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Segoe UI"/>
                        </a:rPr>
                        <a:t>ER-05; modo lote, relatório de conformidade, exportação e apresentação</a:t>
                      </a:r>
                    </a:p>
                  </a:txBody>
                  <a:tcPr marL="73152" marR="73152" marT="27432" marB="27432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526280"/>
            <a:ext cx="112928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Segoe UI"/>
              </a:rPr>
              <a:t>Uso de IA (declarado no relatório e no README)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B1F24"/>
                </a:solidFill>
                <a:latin typeface="Segoe UI"/>
              </a:rPr>
              <a:t>Antigravity: versão inicial do código, dos testes e dos primeiros .jff. Claude (Anthropic): revisão das ERs e da notação formal, construção de Thompson, verificação de equivalência, testes, relatório e slides. As decisões de projeto são da equipe; todos compreendem, explicam e modificam o conteúdo.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