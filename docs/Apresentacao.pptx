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(todos). Apresentar a equipe e o tema em uma frase: um firewall que só deixa passar pacotes de sensores e atuadores que pertencem à linguagem de uma das cinco 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1 (~1 min). Contextualizar: redes industriais trocam texto; um caractere errado pode virar leitura falsa ou comando perigoso. Mostrar à direita exemplos reais dos dados de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1 (~1 min). Requisito do trabalho: entradas, processamento e saídas. Destacar o tratamento de entradas vazias e inválidas (arquivo inexistente, vazio, binário, pasta) e a organização em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1 (~40 s). Explicar que a ER formal e o código são duas escritas da mesma linguagem; os atalhos do Python (+, ?, {m,n}) são derivados dos operadores básicos. O próprio programa rejeita recursos não regulares.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1 (~1 min). Mostrar a união SEN | ATU (dois ramos com ε), a terceira letra opcional (desvio ε entre q12 e q13) e os 4 dígitos. L₁ é finita: 365.040.000 cadeias. É o bloco reutilizado nas ERs 2, 3 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1 (~40 s). Três ramos na união, um por grandeza. Destacar ([1-9] | ε)[0-9], que impede zero à esquerda, e o escape \. da casa decimal (sem ele o ponto seria qualquer caractere).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1 (~40 s). Parte 1: o ID do sensor. Parte 2: três movimentos ε abrem os ramos TEMP, UMID e PRES. No ramo TEMP, o desvio ε paralelo ao '-' é o sinal opcional (- | ε).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2 (~1 min). Cinco ações por união; o espaço é símbolo do alfabeto (⎵), por isso não usamos \s. ⟨PCT⟩ = 100 | ([1-9] | ε)[0-9] cobre 0 a 100 sem zero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2 (~1 min). O octeto é dividido em faixas disjuntas (250–255, 200–249, 100–199, 0–99). No diagrama, cada ⟨OCT⟩ abre 4 ramos por ε. A máscara CIDR é opcional: (/⟨MASC⟩ | ε).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3 (~40 s). Apresentar as definições regulares: ⟨DATA⟩, ⟨HORA⟩, ⟨SEV⟩, ⟨ID⟩ (reuso da ER-01) e ⟨MSG⟩. É a única ER com fecho de Kleene.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3 (~1 min). A data aceita o dia certo de cada mês: três casos na união (01–29 em qualquer mês, 30 exceto fevereiro, 31 só nos meses de 31 dias). Validar dia por mês É regular, porque o conjunto de datas é finito. A parte 2 mostra a hora (00–23), os minutos/segundos (00–59) e a severidade.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3 (~1 min). Mostrar os dois laços do fecho de Kleene no AFNε. Explicar por que a ER-05 é infinita (há um ciclo que lê símbolos em um caminho até o estado final) e as outras são finitas.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2 (~1 min 30 s). Esta é a regra central do guia. Explicar que não comparamos só alguns exemplos: o algoritmo percorre todos os pares de estados alcançáveis, então é uma prova de equivalência.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3 (~2 min). Rodar ao vivo: lote com o turno da caldeira, um pacote rejeitado com o apontador de coluna, a simulação passo a passo e um Multiple Run no JFLAP. Se o professor pedir uma cadeia nova, usar --pacote ou o modo interativo (opção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2 (~1 min). Resultado atual: 314 passed. Os casos de teste ficam em um único arquivo usado pelo pytest, pelo JFLAP e pelo relatório, então não há divergência entre 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Integrante 3 (~40 s). Separar limitação léxica de limitação semântica: tudo o que a ER promete, ela cumpre; o que depende do significado do dado fica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(~30 s). Cada integrante diz em uma frase o que fez.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 Deixar o terminal aberto no modo interativo para testar cadeias pedidas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554480"/>
            <a:ext cx="1069848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Segoe UI"/>
              </a:rPr>
              <a:t>Auditor Léxico de Telemetria</a:t>
            </a:r>
          </a:p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Segoe UI"/>
              </a:rPr>
              <a:t>de Sensores Industriais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6984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D6E2F0"/>
                </a:solidFill>
                <a:latin typeface="Segoe UI"/>
              </a:rPr>
              <a:t>Um firewall léxico construído com Expressões Regulares e AFNε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D6E2F0"/>
                </a:solidFill>
                <a:latin typeface="Segoe UI"/>
              </a:rPr>
              <a:t>Linguagens Formais e Autômatos · Trabalho do 1º Bimestre · CESUPA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Augusto Rodrigues  ·  Caue Jadão  ·  César Augusto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FC3DB"/>
                </a:solidFill>
                <a:latin typeface="Segoe UI"/>
              </a:rPr>
              <a:t>github.com/cauebarroso/Auditor-de-sensores-industriais-com-express-es-regulares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O problema e 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035040" cy="4389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B1F24"/>
                </a:solidFill>
                <a:latin typeface="Segoe UI"/>
              </a:rPr>
              <a:t>• Sensores e atuadores conversam com o supervisório (SCADA/IIoT) por pacotes de texto.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1B1F24"/>
                </a:solidFill>
                <a:latin typeface="Segoe UI"/>
              </a:rPr>
              <a:t>• Um único símbolo errado vira uma leitura falsa ou uma ordem perigosa.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1B1F24"/>
                </a:solidFill>
                <a:latin typeface="Segoe UI"/>
              </a:rPr>
              <a:t>• Solução: um firewall léxico. O pacote só passa se pertencer à linguagem de uma das cinco ERs.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1B1F24"/>
                </a:solidFill>
                <a:latin typeface="Segoe UI"/>
              </a:rPr>
              <a:t>• Pacotes bloqueados recebem a causa provável e a coluna exata do erro, obtida simulando o AFNε.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005840"/>
            <a:ext cx="4983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3A5F"/>
                </a:solidFill>
                <a:latin typeface="Segoe UI"/>
              </a:rPr>
              <a:t>Pacotes que chegam à rede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983480" cy="402336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SEN-TMP-0101:TEMP=78.4C        ✔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CMD ATU-VLV-0201 AJUSTAR 40%   ✔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10.20.0.0/16                   ✔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2026-09-30T06:42:10 WARN SEN-TMP-0101: ...</a:t>
            </a:r>
          </a:p>
          <a:p>
            <a:pPr algn="l"/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SEN-TMP-0101:TEMP=1O4.7C       ✘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letra O no lugar do zero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CMD ATU-VLV-0201 AJUSTAR 120%  ✘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ajuste acima de 100%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2026-09-31T07:10:00 INFO ...   ✘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setembro tem 30 dias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Entradas → processamento → saídas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3566160" cy="301752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Segoe UI"/>
              </a:rPr>
              <a:t>Entradas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Pacote digitado (modo interativo)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Pacote por argumento (--pacote)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Arquivo .txt em lote, com comentários 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097280"/>
            <a:ext cx="3566160" cy="301752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Segoe UI"/>
              </a:rPr>
              <a:t>Processamento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Normaliza (remove espaços das pontas)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re.fullmatch nas 5 ERs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Extrai campos dos válidos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Diagnostica os inválidos pelo AFNε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3611880" cy="301752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Segoe UI"/>
              </a:rPr>
              <a:t>Saídas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[OK] / [ERRO] com coluna do erro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Relatório de conformidade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Filtros por categoria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Exportação JSON, CSV ou TXT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389120"/>
          <a:ext cx="112928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26948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Módulo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Responsabilidade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Consolas"/>
                        </a:rPr>
                        <a:t>expressoes.py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As 5 ERs e as fichas (alfabeto, linguagem, ER formal)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Consolas"/>
                        </a:rPr>
                        <a:t>afn.py · construtor_afn.py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AFNε: fecho-ε, simulação, construção de Thompson, prova de equivalência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Consolas"/>
                        </a:rPr>
                        <a:t>diagnostico.py · relatorio.py · auditor.py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Diagnóstico, relatório/exportação e interface (menu e linha de comando)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Notação formal × sintaxe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4/18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9284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598932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Notação formal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No Python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Significado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Concatenação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| 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r|s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União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r*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r*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Fecho de Kleene (zero ou mais)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r*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Fecho positivo (uma ou mais)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(r | ε)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r?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Opcionalidade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r r 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r{4}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Repetição exata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r (r | ε)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r{2,3}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Repetição limitada = rr | rrr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[0-9]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[0-9]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Classe finita: (0 | 1 | … | 9)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⎵   e   .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' '   e   \.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Espaço e ponto literais (o ponto do Python precisa de escape)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⟨NOME⟩ = 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Definição regular: só um nome para a subexpressão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928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573"/>
                </a:solidFill>
                <a:latin typeface="Segoe UI"/>
              </a:rPr>
              <a:t>Sempre re.fullmatch (dispensa ^ e $). Proibidos e rejeitados pelo nosso analisador: \d \w \s, ponto curinga, classes negadas, retroreferências e lookarounds.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ER-01 — ID do Dispositivo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573"/>
                </a:solidFill>
                <a:latin typeface="Segoe UI"/>
              </a:rPr>
              <a:t>Identificador de um sensor (SEN) ou atuador (ATU); bloco reutilizado nas ERs 02, 03 e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4630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⟨ID⟩ = (SEN | ATU) - [A-Z][A-Z]([A-Z] | ε) - [0-9][0-9][0-9][0-9]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ER01 = ⟨ID⟩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r"(SEN|ATU)-[A-Z]{2,3}-[0-9]{4}"</a:t>
            </a:r>
          </a:p>
        </p:txBody>
      </p:sp>
      <p:pic>
        <p:nvPicPr>
          <p:cNvPr id="10" name="Picture 9" descr="ER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62061"/>
            <a:ext cx="11247120" cy="1494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126480"/>
            <a:ext cx="5577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>
                <a:solidFill>
                  <a:srgbClr val="1D6B3F"/>
                </a:solidFill>
                <a:latin typeface="Consolas"/>
              </a:rPr>
              <a:t>✔ SEN-TM-0001</a:t>
            </a:r>
          </a:p>
          <a:p>
            <a:pPr algn="l"/>
            <a:r>
              <a:rPr sz="1200" b="0">
                <a:solidFill>
                  <a:srgbClr val="1D6B3F"/>
                </a:solidFill>
                <a:latin typeface="Consolas"/>
              </a:rPr>
              <a:t>✔ ATU-VLV-0420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6126480"/>
            <a:ext cx="5577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>
                <a:solidFill>
                  <a:srgbClr val="B03A2E"/>
                </a:solidFill>
                <a:latin typeface="Consolas"/>
              </a:rPr>
              <a:t>✘ sen-tm-0001  ← minúsculas não pertencem a Σ₁</a:t>
            </a:r>
          </a:p>
          <a:p>
            <a:pPr algn="l"/>
            <a:r>
              <a:rPr sz="1200" b="0">
                <a:solidFill>
                  <a:srgbClr val="B03A2E"/>
                </a:solidFill>
                <a:latin typeface="Consolas"/>
              </a:rPr>
              <a:t>✘ SEN-TM-00012  ← 5 dígitos: {4} exige exatamente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19 estados · 5 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ER-02 — Telemetria (medição física)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573"/>
                </a:solidFill>
                <a:latin typeface="Segoe UI"/>
              </a:rPr>
              <a:t>Leitura de um sensor: temperatura (C), umidade (%) ou pressão (hPa), dentro da faixa.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4630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1247120" cy="16002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⟨SID⟩ = SEN - [A-Z][A-Z]([A-Z] | ε) - [0-9][0-9][0-9][0-9]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⟨DEC⟩ = . [0-9] | ε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⟨TEMP⟩ = TEMP= (- | ε) (1[0-9][0-9] | ([1-9] | ε) [0-9]) ⟨DEC⟩ C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⟨UMID⟩ = UMID= (100 (.0 | ε) | ([1-9] | ε) [0-9] ⟨DEC⟩) %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⟨PRES⟩ = PRES= (8[5-9][0-9] | 9[0-9][0-9] | 10[0-9][0-9]) hPa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ER02 = ⟨SID⟩ : (⟨TEMP⟩ | ⟨UMID⟩ | ⟨PRES⟩)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79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r"SEN-[A-Z]{2,3}-[0-9]{4}:(TEMP=-?(1[0-9][0-9]|[1-9]?[0-9])(\.[0-9])?C|UMID=(100(\.0)?|[1-9]?[0-9](\.[0-9])?)%|PRES=(8[5-9][0-9]|9[0-9][0-9]|10[0-9][0-9])hPa)"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89120"/>
            <a:ext cx="112471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Exemplos (tests/casos_teste.py)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79"/>
            <a:ext cx="1124712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1D6B3F"/>
                </a:solidFill>
                <a:latin typeface="Consolas"/>
              </a:rPr>
              <a:t>✔ SEN-TM-0001:TEMP=25.5C</a:t>
            </a:r>
          </a:p>
          <a:p>
            <a:pPr algn="l"/>
            <a:r>
              <a:rPr sz="1300" b="0">
                <a:solidFill>
                  <a:srgbClr val="1D6B3F"/>
                </a:solidFill>
                <a:latin typeface="Consolas"/>
              </a:rPr>
              <a:t>✔ SEN-TM-0001:TEMP=-10C</a:t>
            </a:r>
          </a:p>
          <a:p>
            <a:pPr algn="l"/>
            <a:r>
              <a:rPr sz="1300" b="0">
                <a:solidFill>
                  <a:srgbClr val="1D6B3F"/>
                </a:solidFill>
                <a:latin typeface="Consolas"/>
              </a:rPr>
              <a:t>✔ SEN-TMP-0002:TEMP=-199.9C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58383"/>
            <a:ext cx="1124712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B03A2E"/>
                </a:solidFill>
                <a:latin typeface="Consolas"/>
              </a:rPr>
              <a:t>✘ SEN-TM-0001:TEMP=200C  ← 200 &gt; 199: fora da faixa</a:t>
            </a:r>
          </a:p>
          <a:p>
            <a:pPr algn="l"/>
            <a:r>
              <a:rPr sz="1300" b="0">
                <a:solidFill>
                  <a:srgbClr val="B03A2E"/>
                </a:solidFill>
                <a:latin typeface="Consolas"/>
              </a:rPr>
              <a:t>✘ SEN-TM-0001:UMID=100.5%  ← 100.5% &gt; 100%: fora da faixa</a:t>
            </a:r>
          </a:p>
          <a:p>
            <a:pPr algn="l"/>
            <a:r>
              <a:rPr sz="1300" b="0">
                <a:solidFill>
                  <a:srgbClr val="B03A2E"/>
                </a:solidFill>
                <a:latin typeface="Consolas"/>
              </a:rPr>
              <a:t>✘ SEN-TM-0001:PRES=849hPa  ← 849 &lt; 850: fora da faixa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75 estados · 27 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ER-02 — AFNε: o ID do sensor e a união das três medições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7/18</a:t>
            </a:r>
          </a:p>
        </p:txBody>
      </p:sp>
      <p:pic>
        <p:nvPicPr>
          <p:cNvPr id="5" name="Picture 4" descr="ER-02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7990"/>
            <a:ext cx="11247120" cy="1172978"/>
          </a:xfrm>
          <a:prstGeom prst="rect">
            <a:avLst/>
          </a:prstGeom>
        </p:spPr>
      </p:pic>
      <p:pic>
        <p:nvPicPr>
          <p:cNvPr id="6" name="Picture 5" descr="ER-02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0894"/>
            <a:ext cx="11247120" cy="37278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ER-03 — Comando de Controle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8/18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573"/>
                </a:solidFill>
                <a:latin typeface="Segoe UI"/>
              </a:rPr>
              <a:t>Ordem para um atuador: ligar, desligar, abrir, fechar ou ajustar de 0 a 100%.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4630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1247120" cy="86868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⟨AID⟩ = ATU - [A-Z][A-Z]([A-Z] | ε) - [0-9][0-9][0-9][0-9]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⟨PCT⟩ = 100 | ([1-9] | ε) [0-9]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ER03 = CMD ⎵ ⟨AID⟩ ⎵ (LIGAR | DESLIGAR | ABRIR | FECHAR | AJUSTAR ⎵ ⟨PCT⟩ 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r"CMD ATU-[A-Z]{2,3}-[0-9]{4} (LIGAR|DESLIGAR|ABRIR|FECHAR|AJUSTAR (100|[1-9]?[0-9])%)"</a:t>
            </a:r>
          </a:p>
        </p:txBody>
      </p:sp>
      <p:pic>
        <p:nvPicPr>
          <p:cNvPr id="10" name="Picture 9" descr="ER-03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94116"/>
            <a:ext cx="11247120" cy="22586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126480"/>
            <a:ext cx="5577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>
                <a:solidFill>
                  <a:srgbClr val="1D6B3F"/>
                </a:solidFill>
                <a:latin typeface="Consolas"/>
              </a:rPr>
              <a:t>✔ CMD ATU-VLV-0420 LIGAR</a:t>
            </a:r>
          </a:p>
          <a:p>
            <a:pPr algn="l"/>
            <a:r>
              <a:rPr sz="1200" b="0">
                <a:solidFill>
                  <a:srgbClr val="1D6B3F"/>
                </a:solidFill>
                <a:latin typeface="Consolas"/>
              </a:rPr>
              <a:t>✔ CMD ATU-VLV-0420 DESLIGAR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6126480"/>
            <a:ext cx="5577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>
                <a:solidFill>
                  <a:srgbClr val="B03A2E"/>
                </a:solidFill>
                <a:latin typeface="Consolas"/>
              </a:rPr>
              <a:t>✘ CMD ATU-VLV-0420 AJUSTAR 101%  ← 101 &gt; 100: fora da faixa</a:t>
            </a:r>
          </a:p>
          <a:p>
            <a:pPr algn="l"/>
            <a:r>
              <a:rPr sz="1200" b="0">
                <a:solidFill>
                  <a:srgbClr val="B03A2E"/>
                </a:solidFill>
                <a:latin typeface="Consolas"/>
              </a:rPr>
              <a:t>✘ CMD SEN-VLV-0420 LIGAR  ← sensor (SEN) não recebe comandos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65 estados · 16 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ER-04 — Rota de Rede IPv4/CIDR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9/18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573"/>
                </a:solidFill>
                <a:latin typeface="Segoe UI"/>
              </a:rPr>
              <a:t>Endereço IPv4 com octetos de 0 a 255, sem zero à esquerda, e máscara CIDR opcional (/0 a /32).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4630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1247120" cy="86868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⟨OCT⟩ = 25[0-5] | 2[0-4][0-9] | 1[0-9][0-9] | ([1-9] | ε) [0-9]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⟨MASC⟩ = 3[0-2] | ([12] | ε) [0-9]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ER04 = ⟨OCT⟩ . ⟨OCT⟩ . ⟨OCT⟩ . ⟨OCT⟩ (/ ⟨MASC⟩ | 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r"((25[0-5]|2[0-4][0-9]|1[0-9][0-9]|[1-9]?[0-9])\.){3}(25[0-5]|2[0-4][0-9]|1[0-9][0-9]|[1-9]?[0-9])(/(3[0-2]|[12]?[0-9]))?"</a:t>
            </a:r>
          </a:p>
        </p:txBody>
      </p:sp>
      <p:pic>
        <p:nvPicPr>
          <p:cNvPr id="10" name="Picture 9" descr="ER-04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850" y="3566160"/>
            <a:ext cx="9867819" cy="2514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126480"/>
            <a:ext cx="5577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>
                <a:solidFill>
                  <a:srgbClr val="1D6B3F"/>
                </a:solidFill>
                <a:latin typeface="Consolas"/>
              </a:rPr>
              <a:t>✔ 192.168.0.1</a:t>
            </a:r>
          </a:p>
          <a:p>
            <a:pPr algn="l"/>
            <a:r>
              <a:rPr sz="1200" b="0">
                <a:solidFill>
                  <a:srgbClr val="1D6B3F"/>
                </a:solidFill>
                <a:latin typeface="Consolas"/>
              </a:rPr>
              <a:t>✔ 10.0.0.1/8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6126480"/>
            <a:ext cx="5577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>
                <a:solidFill>
                  <a:srgbClr val="B03A2E"/>
                </a:solidFill>
                <a:latin typeface="Consolas"/>
              </a:rPr>
              <a:t>✘ 256.0.0.1  ← 256 &gt; 255: octeto fora da faixa</a:t>
            </a:r>
          </a:p>
          <a:p>
            <a:pPr algn="l"/>
            <a:r>
              <a:rPr sz="1200" b="0">
                <a:solidFill>
                  <a:srgbClr val="B03A2E"/>
                </a:solidFill>
                <a:latin typeface="Consolas"/>
              </a:rPr>
              <a:t>✘ 192.168.0.1/33  ← máscara 33 &gt; 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76 estados · 42 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ER-05 — Alerta de Log (severidade)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10/18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573"/>
                </a:solidFill>
                <a:latin typeface="Segoe UI"/>
              </a:rPr>
              <a:t>Registro de evento: data válida, hora, severidade, dispositivo e mensagem.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4630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1247120" cy="20574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⟨DATA⟩ = [0-9][0-9][0-9][0-9] - ((0[1-9] | 1[0-2]) - (0[1-9] | [12][0-9]) | (0[13-9] | 1[0-2]) - 30 | (0[13578] | 1[02]) - 31)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⟨HORA⟩ = ([01][0-9] | 2[0-3]) : [0-5][0-9] : [0-5][0-9]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⟨SEV⟩ = INFO | WARN | ERROR | CRIT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⟨ID⟩ = (SEN | ATU) - [A-Z][A-Z]([A-Z] | ε) - [0-9][0-9][0-9][0-9]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⟨PAL⟩ = [A-Za-z0-9_.-] [A-Za-z0-9_.-]*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⟨MSG⟩ = ⟨PAL⟩ (⎵ ⟨PAL⟩)*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ER05 = ⟨DATA⟩ T ⟨HORA⟩ ⎵ ⟨SEV⟩ ⎵ ⟨ID⟩ : ⎵ ⟨MSG⟩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r"[0-9]{4}-((0[1-9]|1[0-2])-(0[1-9]|[12][0-9])|(0[13-9]|1[0-2])-30|(0[13578]|1[02])-31)T([01][0-9]|2[0-3]):[0-5][0-9]:[0-5][0-9] (INFO|WARN|ERROR|CRIT) (SEN|ATU)-[A-Z]{2,3}-[0-9]{4}: [A-Za-z0-9_.-]+( [A-Za-z0-9_.-]+)*"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Exemplos (tests/casos_teste.py)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79"/>
            <a:ext cx="1124712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1D6B3F"/>
                </a:solidFill>
                <a:latin typeface="Consolas"/>
              </a:rPr>
              <a:t>✔ 2026-09-30T08:15:00 INFO SEN-TM-0001: leitura normal</a:t>
            </a:r>
          </a:p>
          <a:p>
            <a:pPr algn="l"/>
            <a:r>
              <a:rPr sz="1300" b="0">
                <a:solidFill>
                  <a:srgbClr val="1D6B3F"/>
                </a:solidFill>
                <a:latin typeface="Consolas"/>
              </a:rPr>
              <a:t>✔ 2026-12-31T23:59:59 CRIT ATU-XX-9999: falha critica no motor</a:t>
            </a:r>
          </a:p>
          <a:p>
            <a:pPr algn="l"/>
            <a:r>
              <a:rPr sz="1300" b="0">
                <a:solidFill>
                  <a:srgbClr val="1D6B3F"/>
                </a:solidFill>
                <a:latin typeface="Consolas"/>
              </a:rPr>
              <a:t>✔ 2026-01-01T00:00:00 WARN SEN-AB-1234: bateria fraca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15583"/>
            <a:ext cx="1124712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B03A2E"/>
                </a:solidFill>
                <a:latin typeface="Consolas"/>
              </a:rPr>
              <a:t>✘ 2026-13-01T10:00:00 INFO SEN-TM-0001: ok  ← mês 13 não existe</a:t>
            </a:r>
          </a:p>
          <a:p>
            <a:pPr algn="l"/>
            <a:r>
              <a:rPr sz="1300" b="0">
                <a:solidFill>
                  <a:srgbClr val="B03A2E"/>
                </a:solidFill>
                <a:latin typeface="Consolas"/>
              </a:rPr>
              <a:t>✘ 2026-02-30T10:00:00 INFO SEN-TM-0001: ok  ← 30 de fevereiro não existe</a:t>
            </a:r>
          </a:p>
          <a:p>
            <a:pPr algn="l"/>
            <a:r>
              <a:rPr sz="1300" b="0">
                <a:solidFill>
                  <a:srgbClr val="B03A2E"/>
                </a:solidFill>
                <a:latin typeface="Consolas"/>
              </a:rPr>
              <a:t>✘ 2026-04-31T10:00:00 INFO SEN-TM-0001: ok  ← 31 de abril não existe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114 estados · 51 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ER-05 — AFNε da data e da 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11/18</a:t>
            </a:r>
          </a:p>
        </p:txBody>
      </p:sp>
      <p:pic>
        <p:nvPicPr>
          <p:cNvPr id="5" name="Picture 4" descr="ER-05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77511"/>
            <a:ext cx="11247120" cy="2828457"/>
          </a:xfrm>
          <a:prstGeom prst="rect">
            <a:avLst/>
          </a:prstGeom>
        </p:spPr>
      </p:pic>
      <p:pic>
        <p:nvPicPr>
          <p:cNvPr id="6" name="Picture 5" descr="ER-05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13667"/>
            <a:ext cx="11247120" cy="18425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ER-05 — a mensagem usa fecho de Kleene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500" b="0">
                <a:solidFill>
                  <a:srgbClr val="1B1F24"/>
                </a:solidFill>
                <a:latin typeface="Consolas"/>
              </a:rPr>
              <a:t>⟨PAL⟩ = [A-Za-z0-9_.-] [A-Za-z0-9_.-]*        ⟨MSG⟩ = ⟨PAL⟩ (⎵ ⟨PAL⟩)*</a:t>
            </a:r>
          </a:p>
          <a:p>
            <a:pPr algn="l"/>
            <a:r>
              <a:rPr sz="1500" b="0">
                <a:solidFill>
                  <a:srgbClr val="1B1F24"/>
                </a:solidFill>
                <a:latin typeface="Consolas"/>
              </a:rPr>
              <a:t>No código:  [A-Za-z0-9_.-]+( [A-Za-z0-9_.-]+)*</a:t>
            </a:r>
          </a:p>
        </p:txBody>
      </p:sp>
      <p:pic>
        <p:nvPicPr>
          <p:cNvPr id="6" name="Picture 5" descr="ER-05_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26548"/>
            <a:ext cx="11247120" cy="24049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47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Laço interno: o fecho de [A-Za-z0-9_.-]* (q104 ↔ q106). Laço externo: (⎵⟨PAL⟩)*, que volta de q112 para q107.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Por causa do fecho, L₅ é a única linguagem INFINITA do projeto; as outras quatro são finitas.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• Rejeita mensagem vazia, dois espaços seguidos e símbolos fora de Σ₅ (ex.: pressão, com ã).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Como garantimos que é a mesma linguagem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852160" cy="5120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Segoe UI"/>
              </a:rPr>
              <a:t>1. Código → AFNε (Thompson)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O AFNε é construído a partir do padrão exato do código.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F3A5F"/>
                </a:solidFill>
                <a:latin typeface="Segoe UI"/>
              </a:rPr>
              <a:t>2. ER formal ≡ código: prova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Busca em largura sobre o produto dos dois AFNε (construção de subconjuntos). Nenhuma cadeia distingue as linguagens.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F3A5F"/>
                </a:solidFill>
                <a:latin typeface="Segoe UI"/>
              </a:rPr>
              <a:t>3. Arquivo .jff ≡ código: prova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O .jff é lido de volta e comparado pelo mesmo algoritmo.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F3A5F"/>
                </a:solidFill>
                <a:latin typeface="Segoe UI"/>
              </a:rPr>
              <a:t>4. Executado no próprio JFLAP 7.1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B1F24"/>
                </a:solidFill>
                <a:latin typeface="Segoe UI"/>
              </a:rPr>
              <a:t>80 de 80 cadeias de teste com o resultado esperado.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097280"/>
          <a:ext cx="5166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51460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Verificação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ER formal ≡ código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5/5 provadas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.jff ≡ código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5/5 provadas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AFNε × re (aleatórias)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10.000 cadeias, 0 divergências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JFLAP 7.1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80/80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Linguagens disjuntas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interseções vazias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3931920"/>
            <a:ext cx="5166360" cy="118872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573"/>
                </a:solidFill>
                <a:latin typeface="Segoe UI"/>
              </a:rPr>
              <a:t>Achado: o JFLAP 7.1 trata rótulos com '[' como intervalo ([a-z]) e falha com o símbolo '['. Por isso a severidade é INFO, não [INFO]: o .jff reconhece a linguagem exata, sem símbolos substitutos.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92840" cy="132588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python src/auditor.py dados/turno_caldeira.txt          # lote + relatório + filtros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python src/auditor.py --pacote "CMD ATU-VLV-0201 AJUSTAR 120%"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python src/auditor.py --explicar "ATU-VLV-0420"            # simulação do AFNε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JFLAP: automatos/jflap/ER-03.jff → Input › Multiple Run → Load Inputs (entradas/ER-03.txt)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92840" cy="3840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[ERRO] ER-03 Comando de Controle: valor de ajuste 120% acima de 100%; o intervalo aceito é 0 a 100%.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   CMD ATU-VLV-0201 AJUSTAR 120%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                              ^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   Onde: coluna 28: símbolo '0' inesperado; esperado '%'</a:t>
            </a:r>
          </a:p>
          <a:p>
            <a:pPr algn="l"/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passo   lido   conjunto de estados ativos (após o fecho-ε)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0    —     {q0, q1, q2}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1   'A'    {q4}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2   'T'    {q6}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⋮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12   '0'    {q18}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Resultado: ACEITA — o último conjunto contém o estado final (q18).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Testes e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15/18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928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08660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Arquivo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O que verifica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Testes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Consolas"/>
                        </a:rPr>
                        <a:t>test_aplicacao.py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Segoe UI"/>
                        </a:rPr>
                        <a:t>Entradas vazias/inválidas, diagnóstico, lote, CLI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Consolas"/>
                        </a:rPr>
                        <a:t>test_automatos.py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Segoe UI"/>
                        </a:rPr>
                        <a:t>AFNε × re, provas de equivalência, .jff, linguagens disjuntas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Segoe UI"/>
                        </a:rPr>
                        <a:t>118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Consolas"/>
                        </a:rPr>
                        <a:t>test_expressoes.py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Segoe UI"/>
                        </a:rPr>
                        <a:t>Cadeias aceitas/rejeitadas, requisitos 6+6, categoria única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Segoe UI"/>
                        </a:rPr>
                        <a:t>130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Consolas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Segoe UI"/>
                        </a:rPr>
                        <a:t>python -m pytest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Segoe UI"/>
                        </a:rPr>
                        <a:t>314 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40480"/>
            <a:ext cx="5486400" cy="2560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Segoe UI"/>
              </a:rPr>
              <a:t>Casos-limite cobertos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0% e 100%; 850 e 1099 hPa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octetos 0 e 255; máscaras /0 e /32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29/02, 30/04, 31/07 aceitas; 30/02, 31/04, hora 24 rejeitadas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menor e maior cadeia de L₁; a cadeia vazia 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840480"/>
            <a:ext cx="5486400" cy="2560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Segoe UI"/>
              </a:rPr>
              <a:t>Além das 80 cadeias de teste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JFLAP 7.1: 80/80 com o resultado esperado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10.000 cadeias aleatórias: 0 divergências entre AFNε e re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Dados de exemplo: 20 íntegros e 14 corrompidos, todos com a causa correta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Limitações e possíveis melhorias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577840" cy="5120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Segoe UI"/>
              </a:rPr>
              <a:t>Limitações (falsos resultados)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B1F24"/>
                </a:solidFill>
                <a:latin typeface="Segoe UI"/>
              </a:rPr>
              <a:t>• A validação é léxica: um ID bem formado passa mesmo se o dispositivo não existir.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B1F24"/>
                </a:solidFill>
                <a:latin typeface="Segoe UI"/>
              </a:rPr>
              <a:t>• −0C é aceito; uma leitura real acima de 199.9 °C é bloqueada.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B1F24"/>
                </a:solidFill>
                <a:latin typeface="Segoe UI"/>
              </a:rPr>
              <a:t>• 29/02 é aceito em qualquer ano.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B1F24"/>
                </a:solidFill>
                <a:latin typeface="Segoe UI"/>
              </a:rPr>
              <a:t>• A mensagem do log não aceita acentos.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005840"/>
            <a:ext cx="5486400" cy="5120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Segoe UI"/>
              </a:rPr>
              <a:t>Melhorias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B1F24"/>
                </a:solidFill>
                <a:latin typeface="Segoe UI"/>
              </a:rPr>
              <a:t>• Ano bissexto: também é regular (anos de 4 dígitos formam um conjunto finito), mas o AFNε cresceria muito.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B1F24"/>
                </a:solidFill>
                <a:latin typeface="Segoe UI"/>
              </a:rPr>
              <a:t>• Faixas configuráveis por tipo de sensor.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B1F24"/>
                </a:solidFill>
                <a:latin typeface="Segoe UI"/>
              </a:rPr>
              <a:t>• Leitura contínua de porta serial ou socket.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B1F24"/>
                </a:solidFill>
                <a:latin typeface="Segoe UI"/>
              </a:rPr>
              <a:t>• Minimizar o AFD (Hopcroft) e comparar com o AFNε de Thompson.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Contribuições e uso de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17/18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6676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Integrante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Contribuições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Augusto Rodrigues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ER-01 e ER-02 (fichas, AFNε, testes); diagnóstico de falhas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Caue Jadão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ER-03 e ER-04; revisão geral, verificação de equivalência, relatório e repositório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César Augusto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ER-05; modo lote, relatório de conformidade, exportação e apresentação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9284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Segoe UI"/>
              </a:rPr>
              <a:t>Uso de IA (declarado no relatório e no README)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Antigravity: versão inicial do código, dos testes e dos primeiros .jff.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Claude (Anthropic): revisão das ERs e da notação formal, construção de Thompson, verificação de equivalência, testes, relatório e slides.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As decisões de projeto são da equipe; todos compreendem, explicam e modificam o conteúdo.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0">
                <a:solidFill>
                  <a:srgbClr val="FFFFFF"/>
                </a:solidFill>
                <a:latin typeface="Segoe UI"/>
              </a:rPr>
              <a:t>Obrigado!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D6E2F0"/>
                </a:solidFill>
                <a:latin typeface="Segoe UI"/>
              </a:rP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FC3DB"/>
                </a:solidFill>
                <a:latin typeface="Segoe UI"/>
              </a:rPr>
              <a:t>github.com/cauebarroso/Auditor-de-sensores-industriais-com-express-es-regulares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